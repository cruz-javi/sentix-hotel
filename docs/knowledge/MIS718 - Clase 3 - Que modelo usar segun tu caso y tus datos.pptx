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 Abrir con la pregunta que van a escuchar en la defensa: "¿por qué este modelo y no otro?". Hoy salen con esa respuesta. Cada lámina de modelo tiene un gráfico calculado sobre datos simulados parecidos a sus tesis (ventas de bebidas, citas médicas, telemetría, mensajes de clientes, propiedades, contratistas).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minutos. Dato, pregunta, restricción, en ese orden. Analogía: nadie pregunta "¿cuál es el mejor auto?"; pregunta qué camino, para qué viaje y con qué presupuesto. Sondeo en el chat: "¿tu dato es TABLA, SERIE, TEXTO o EVENTOS?", una palabra.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minutos. Recorrer los seis paneles preguntando "¿quién tiene esto?". Ninguna tesis tiene imagen o audio como dato principal: eso ya responde por qué casi nadie necesita una red convolucional. Actividad: cada uno escribe en el chat su forma de dato (o sus dos formas).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minutos. La pregunta es lo que dice el gerente; la tarea, cómo la llama la técnica. La métrica sale de la pregunta, no del modelo. Actividad: cada uno escribe su pregunta con palabras del negocio y la tarea al lado.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minutos. Estructura de toda la clase y del E3. El ejemplo es real (sobre datos simulados de ventas): la persistencia estacional da 22 %, Holt-Winters 15 %, el boosting 15 %. Moraleja en vivo: el escalón 3 no ganó; la tesis se queda en el 2. La mayoría de las tesis termina en el escalón 2 y está bien.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Diez minutos. La pregunta más frecuente del tribunal. Tres partes de la respuesta: el dato, la evidencia propia y la literatura (Grinsztajn, Oyallon y Varoquaux, 2022, verificada en la bibliografía). Costo real de una red con 800 filas: sobreajuste, semanas de ajuste, y no gana al bosque. Actividad: cada uno ubica su tesis en un punto del cuadrante.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Dos minutos. Gráfico: 40 propiedades simuladas, precio vs. m². La recta dice "cada m² suma unos 830 Bs" y proyecta una propiedad nueva de 180 m². El punto rojo tuerce la recta: por eso Ridge y Lasso (freno a los coeficientes) cuando hay pocas filas. Analogía: la regla de tres del negocio. Pregunta: ¿quién tiene una pregunta "cuánto" con menos de 500 filas?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minutos. Gráfico: 4 000 citas simuladas; barras = inasistencia observada por tramo de anticipación; curva = probabilidad del modelo. Dos cortes: con 0,5 el modelo casi nunca dice "faltará"; con 0,15 detecta más y alarma más. El corte se elige por costo (una llamada de más vs. un hueco de agenda). class_weight="balanced" cuando la clase es rara. Es la línea base obligatoria de toda clasificación.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Dos minutos. Gráfico: contratistas simulados por calificación y trabajos completados; el nuevo hereda la clase de sus 5 vecinos (4 a 1). Analogía: en una fiesta, mira de qué hablan los cinco de al lado. Advertencia: escalar antes (pipeline de la Clase 2) o una variable domina la distancia.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minutos. Gráfico: 360 mensajes simulados de clientes, tres intenciones; cada barra es la probabilidad de la palabra en cada clase. "Precio" y "descuento" votan por precio; "llegó" y "paquete" por entrega; "cancelar" y "baja" por cancelar; "gracias" no vota por nadie. El mensaje se clasifica multiplicando los votos. Límite: "no recomiendo" (la negación).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minutos. Gráfico: 120 clientes simulados de un café por visitas y ticket; K = 3 centros (X) encuentran ocasionales, frecuentes de ticket bajo y de ticket alto con pocas visitas; cada grupo recibe una acción. No hay respuesta correcta: la silueta se combina con si el negocio reconoce los grupos. En tesis, suele ser un paso, no el artefacto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Dos minutos. Gráfico: árbol de profundidad 2 aprendido sobre las 4 000 citas; cada hoja trae su tasa de inasistencia real. "Reservó con más de 25 días y vive a más de 9 km": faltan el 32 %. Un supervisor lo sigue con el dedo. Siempre con max_depth limitado; sin límite, memoriza.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minutos. Gráfico izquierdo: cinco árboles distintos votan; gana la mayoría. Derecho: PR-AUC en la prueba de citas según el número de árboles: un árbol 0,23; diez árboles 0,28; después, techo. Es el modelo v1 de la mayoría: funciona sin tocar nada y da importancia de variables (capítulo 4). Trampa: no extrapola una tendencia (cápsula 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minutos. Gráfico: el error en la prueba (ventas diarias) baja con cada árbol añadido: 32 % con uno, 24 % con diez, 15 % con cincuenta, 14 % con trescientos; después se estanca. Cada árbol corrige lo que dejó el anterior. Exige validación y detención temprana. CatBoost cuando hay columnas de categoría (zona, producto, tipo de trámite). Solo se sube aquí con la tabla de la lámina 40.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Dos minutos. Gráfico izquierdo: nivel a nivel (XGBoost) vs. hoja a hoja (LightGBM). Derecho: tiempo medido aquí con scikit-learn sobre 60 000 filas y 200 árboles: 6 segundos el boosting clásico, medio segundo el de histogramas (la técnica que usa LightGBM). Se elige por latencia y volumen, no por precisión. Cierra la cadena tabular.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minutos. Gráfico: cinco semanas de la prueba sobre ventas simuladas; línea negra = real; gris = persistencia estacional (22 %); naranja = Holt-Winters (15 %); azul = boosting con rezagos (15 %). Holt-Winters ya captura el ritmo semanal; el boosting no lo mejora en una serie sola: gana con muchas series (por SKU, por ruta). MASE = MAE del modelo / MAE de la persistencia: menor que 1 es ganar. Holt-Winters aquí es una implementación simple; en el cuaderno se usa statsmodels.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minutos. Gráfico: cuatro días de CPU simulada con ciclo diario; puntos rojos = incidentes reales; línea punteada gris = umbral fijo 90 %; línea azul = "lo normal a esta hora" + 15. El incidente de madrugada sube la CPU a 65 % y el umbral fijo no lo ve. Resultados sobre 60 días: umbral fijo 4 de 8; "lo normal a esta hora" 8 de 8 con 0,8 falsas alarmas por semana; Isolation Forest 5 de 8 sin conocer la hora. Con más de unas decenas de incidentes etiquetados, un clasificador suele ganar.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minutos. Gráfico izquierdo: un mensaje real recorre el escalón 2: TF-IDF lo convierte en una fila de pesos por palabra y la logística decide "precio" con 75 %. Derecho: F1 macro sobre 360 mensajes simulados con 8 % de etiquetas ruidosas: reglas 0,43; TF-IDF + logística 0,95. Los escalones 3 y 4 cambian la representación (embeddings, BERT), no el clasificador; se justifican cuando la negación y los sinónimos importan.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minutos. Recorrer el flujo con el ejemplo: RAG es un examen a libro abierto; el modelo no recuerda la norma, la encuentra y la cita, y se corrige mirando si la cita existe. El artículo del ejemplo es ilustrativo: cada uno lo reemplaza por su corpus. Escalones 1 y 2 son más fuertes de lo que parecen en documentos con formato fijo (sentencias, facturas).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Cuatro minutos. Gráfico: matriz de 8 lectores × 6 libros (azul = compró). L2 compró Cien años y Rayuela; los libros parecidos a esos (por quiénes los compraron) puntúan más: El Principito gana. Con el volumen de la cohorte, el escalón 2 suele ser el techo útil. Evaluación por tiempo, igual que un pronóstico.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Dos minutos. La frase del post que vale la pena repetir: no basta con decir "voy a usar deep learning"; la pregunta correcta es qué arquitectura corresponde a la estructura de mis datos y al objetivo del problema. Recorrer el 3 × 3 con el dato de cada una: tabla, imagen, secuencia corta, secuencia larga, secuencia barata, anomalías, generar, texto, grafos. Después, una lámina por arquitectura, un minuto cada una.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minuto. Es la red "básica": entra la tabla (edad, días, distancia, faltó antes), pasa por capas y sale una probabilidad. En tablas de cientos o miles de filas rara vez gana a los árboles (lámina 6). Si alguien la quiere usar, la regla es la de siempre: contra el bosque, en la prueba.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minuto. Explicar con el dibujo: el cuadrado naranja es el filtro; se desliza; el mapa azul dice dónde apareció el patrón; con más capas, de bordes a formas a objetos. Regla: nunca desde cero; se toma una red ya entrenada y se ajusta (transferencia). En la cohorte no hay dato de imagen principal.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minuto. El recuerdo (flecha naranja) se diluye cuando la secuencia es larga: por eso existen LSTM y GRU. En la práctica ya no se usa la RNN simple; está aquí para entender la idea de "recordar lo anterior".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minuto. La línea naranja de arriba es la memoria larga; las tres cajas son las compuertas. Es el escalón 4 de las escaleras de series y anomalías (láminas 16 y 17): solo se justifica con muchas series o señales crudas. Con una serie de tres años, Holt-Winters y el boosting con rezagos le ganan.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minuto. Si alguien llega al escalón 4 de series o anomalías, la recomendación práctica es probar GRU antes que LSTM: casi el mismo resultado, menos costo. Y siempre contra el escalón 3 en la prueba.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minuto. La forma de reloj de arena es la clave: el cuello obliga a resumir. Se entrena solo con datos normales; en la prueba, lo que se reconstruye mal es anomalía. Es el escalón 4 de la lámina 17: después del umbral y de Isolation Forest, y solo con volumen.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minuto. Solo para reconocerla: si alguien propone "datos sintéticos con GAN" para una tabla pequeña, la respuesta es que hay caminos más simples y verificables (rebalanceo en entrenamiento, lámina 32). Para texto e imagen, hoy se prefieren otros generadores.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minuto, y es la que importa: en el dibujo, "llegó" presta mucha atención a "no" y por eso entiende la negación, que TF-IDF no ve. Es la única arquitectura que se justifica en la cohorte, y siempre preentrenada: embeddings (escalón 3 de la lámina 18), BERT ajustado (escalón 4) o LLM con RAG (lámina 19). Nunca desde cero.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minuto. Sirve cuando la relación es el dato: quién trabajó con quién, qué se conecta con qué. En la cohorte es opcional: vecinos por ítem (lámina 20) y los umbrales de la lámina 17 resuelven lo mismo con mucho menos. Cierra el bloque: la única red que se justifica hoy en estas 37 tesis es el transformer, preentrenado.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minutos, sin detenerse. Para que no les asuste un nombre en un paper. Regresión cuantílica merece una frase más: es la respuesta a "cuánto stock tener", que no es el promedio (Lema, Manjón).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minutos. Volver a la tercera pregunta de la lámina 2. Actividad: cada uno escribe su restricción dominante en una palabra.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Ocho minutos. Lámina central del taller. Recorrer con dos tesis en voz alta (Zuñiga: se detiene en la 3, escalera de series; Alarcón: en la 2, extraer). Después cada uno la recorre solo y escribe en el chat: "pregunta N · escalera · escalón 1". Es el borrador de la sección de selección de técnica del capítulo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minutos. Lámina para imprimir. Cada fila es una escalera lista; v2 solo si v1 ganó y queda margen. Cada estudiante identifica su fila (o sus dos filas).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Doce minutos (seis en la versión corta). Gráfico: MAPE semanal de los tres escalones con desviación entre semanas: 22 ± 10, 15 ± 6, 15 ± 5. El boosting no gana a Holt-Winters en una serie sola; ganaría con muchas series juntas. Preguntas nombradas: Zuñiga (¿dónde cortas y qué horizonte reportas?), Lema (¿una serie por SKU o todas en una tabla?).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Doce minutos. Gráfico: F1 macro por escalón sobre mensajes simulados: reglas 0,43; TF-IDF + logística 0,95; embeddings y BERT quedan por medir en su E3. Sin 100 casos anotados a mano no hay E3 de lenguaje: es el trabajo de la semana. Preguntas nombradas: Alarcón (¿por expediente o por sentencia?), Santa Cruz (¿quién anota y cómo verificamos el acuerdo?).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Doce minutos. Gráfico: curvas precisión-recall sobre las citas (13 % de inasistencia): azar 0,13; logística 0,24; bosque 0,27. Leer la curva: para encontrar el 60 % de las inasistencias, la precisión cae a 0,25: de cada cuatro llamadas, una evita un hueco. El negocio decide si vale. Preguntas nombradas: Gonzales (¿qué precisión mínima tolera la clínica?), Mollo (¿gestionar al 10 % de mayor riesgo recupera más que por antigüedad?).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Doce minutos. Gráfico: sobre 60 días de telemetría simulada con 8 incidentes: umbral fijo 4 de 8 con 0 falsas alarmas; "lo normal a esta hora" 8 de 8 con 0,8 por semana; Isolation Forest 5 de 8 con 0,5. La métrica es doble y el negocio decide cuántas falsas alarmas tolera. Preguntas nombradas: Cervantes (¿cuántos incidentes etiquetados?), Vásquez (¿cuántas falsas alarmas por semana tolera el laboratorio?).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Cuatro minutos. Leer en voz alta la columna "la que engaña": son las métricas que un tribunal informado cuestiona. Conecta con la Clase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Cuatro minutos. Los números son los de las láminas 5 y 16 (datos simulados). Fíjense: v2 no gana a v1 y por eso se descarta; eso también es una decisión defendible. La fila "Descartado" es la que casi nadie escribe y la que más convence.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Taller. La ficha es el borrador de la sección de selección de técnica del capítulo 3 y la consigna del E3. Salas A, B, C, D con la plantilla del cuaderno abierta. Rotar por salas. En plenaria, fichas leídas en voz alta y corregidas en una frase.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minutos. El fracaso del algoritmo no es el fracaso de la tesis; ocultarlo con una métrica equivocada sí lo es. El camino B exige más rigor, no menos. Recordar el puente de cuatro días y la tutoría en el foro con corte el miércoles al mediodía.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Dos minutos. Cerrar con la frase y pedir una palabra en el chat.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A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0C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 718 · ARTIFICIAL INTELLIGENCE CAPSTONE PROJECT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B4C1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Clase 3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459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modelo usar según tu caso y tus datos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92608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modelo con un gráfico y un ejemplo de la cohorte. La regla: el modelo correcto es el más simple que gana.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384048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96501F"/>
          </a:solidFill>
          <a:ln w="12700">
            <a:solidFill>
              <a:srgbClr val="96501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38404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PRONÓSTICO · 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57400" y="384048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3E6F8A"/>
          </a:solidFill>
          <a:ln w="12700">
            <a:solidFill>
              <a:srgbClr val="3E6F8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57400" y="38404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LENGUAJE · 9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0" y="384048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1B5A4C"/>
          </a:solidFill>
          <a:ln w="12700">
            <a:solidFill>
              <a:srgbClr val="1B5A4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57600" y="38404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CLASIF. · 6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257800" y="384048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7A3A5E"/>
          </a:solidFill>
          <a:ln w="12700">
            <a:solidFill>
              <a:srgbClr val="7A3A5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257800" y="38404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ANOMALÍAS · 7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794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Maestría en Ingeniería de Software Avanzada · UCB · Semana 1, sábado · 3 horas por videoconferencia · Entregable E3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143000" cy="256032"/>
          </a:xfrm>
          <a:prstGeom prst="roundRect">
            <a:avLst>
              <a:gd name="adj" fmla="val 17857"/>
            </a:avLst>
          </a:prstGeom>
          <a:solidFill>
            <a:srgbClr val="1B5A4C"/>
          </a:solidFill>
          <a:ln w="12700">
            <a:solidFill>
              <a:srgbClr val="1B5A4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0116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APERTURA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719072" y="201168"/>
            <a:ext cx="6995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pregunta correcta · minuto 0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7960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/ 43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nombrar un modelo, tres preguntas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2651760" cy="2606040"/>
          </a:xfrm>
          <a:prstGeom prst="roundRect">
            <a:avLst>
              <a:gd name="adj" fmla="val 280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37160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B5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16002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1B5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DATO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783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forma tiene?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3317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B4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· serie con fecha · texto · eventos · usuario × ítem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200400"/>
            <a:ext cx="22860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2004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Zuñiga: una serie diaria de ventas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46120" y="1280160"/>
            <a:ext cx="2651760" cy="2606040"/>
          </a:xfrm>
          <a:prstGeom prst="roundRect">
            <a:avLst>
              <a:gd name="adj" fmla="val 280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429000" y="137160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3950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400" dirty="0"/>
          </a:p>
        </p:txBody>
      </p:sp>
      <p:sp>
        <p:nvSpPr>
          <p:cNvPr id="16" name="Text 14"/>
          <p:cNvSpPr txBox="1"/>
          <p:nvPr/>
        </p:nvSpPr>
        <p:spPr>
          <a:xfrm>
            <a:off x="4160520" y="16002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3950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PREGUNTA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4160520" y="1783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decisión cambia?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429000" y="23317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B4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¿cuánto? · ¿sí o no? · ¿cuánto mañana? · ¿qué grupos? · ¿qué es raro?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29000" y="3200400"/>
            <a:ext cx="22860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520440" y="32004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Gonzales: ¿va a faltar a la cita?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35040" y="1280160"/>
            <a:ext cx="2651760" cy="2606040"/>
          </a:xfrm>
          <a:prstGeom prst="roundRect">
            <a:avLst>
              <a:gd name="adj" fmla="val 280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17920" y="137160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7A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400" dirty="0"/>
          </a:p>
        </p:txBody>
      </p:sp>
      <p:sp>
        <p:nvSpPr>
          <p:cNvPr id="23" name="Text 21"/>
          <p:cNvSpPr txBox="1"/>
          <p:nvPr/>
        </p:nvSpPr>
        <p:spPr>
          <a:xfrm>
            <a:off x="6949440" y="16002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7A3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RESTRICCIÓN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6949440" y="1783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manda al final?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217920" y="23317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B4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· latencia · costo · pocos datos · clase rara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0" y="3200400"/>
            <a:ext cx="22860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09360" y="32004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Vargas: el auditor tiene que seguir la regla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402336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DBE9E5"/>
          </a:solidFill>
          <a:ln w="12700">
            <a:solidFill>
              <a:srgbClr val="DBE9E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080" y="40233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24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Regla del taller: un modelo entra a la tesis solo si gana al más simple, en la métrica primaria, sobre la prueba.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143000" cy="256032"/>
          </a:xfrm>
          <a:prstGeom prst="roundRect">
            <a:avLst>
              <a:gd name="adj" fmla="val 17857"/>
            </a:avLst>
          </a:prstGeom>
          <a:solidFill>
            <a:srgbClr val="1B5A4C"/>
          </a:solidFill>
          <a:ln w="12700">
            <a:solidFill>
              <a:srgbClr val="1B5A4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0116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MAPA 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719072" y="201168"/>
            <a:ext cx="6995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forma del dato decide la familia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7960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/ 43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1 · La forma del dato decide la familia</a:t>
            </a:r>
            <a:endParaRPr lang="en-US" sz="2400" dirty="0"/>
          </a:p>
        </p:txBody>
      </p:sp>
      <p:pic>
        <p:nvPicPr>
          <p:cNvPr id="7" name="Image 0" descr="/tmp/claude-0/-home-claude/94d87a7e-2026-57da-a708-b5745215c64e/scratchpad/build/figs3/f03_forma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143000"/>
            <a:ext cx="5486400" cy="33832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26480" y="1188720"/>
            <a:ext cx="2560320" cy="475488"/>
          </a:xfrm>
          <a:prstGeom prst="roundRect">
            <a:avLst>
              <a:gd name="adj" fmla="val 15385"/>
            </a:avLst>
          </a:prstGeom>
          <a:solidFill>
            <a:srgbClr val="EEF2F5"/>
          </a:solidFill>
          <a:ln w="12700">
            <a:solidFill>
              <a:srgbClr val="D2D9E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236208" y="123444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B5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con etiqueta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6236208" y="142646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B4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lineal / logística → bosque → boosting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126480" y="1737360"/>
            <a:ext cx="256032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2D9E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236208" y="178308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965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 con fecha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6236208" y="197510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B4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 → Holt-Winters → boosting con rezagos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126480" y="2286000"/>
            <a:ext cx="2560320" cy="475488"/>
          </a:xfrm>
          <a:prstGeom prst="roundRect">
            <a:avLst>
              <a:gd name="adj" fmla="val 15385"/>
            </a:avLst>
          </a:prstGeom>
          <a:solidFill>
            <a:srgbClr val="EEF2F5"/>
          </a:solidFill>
          <a:ln w="12700">
            <a:solidFill>
              <a:srgbClr val="D2D9E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236208" y="23317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E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6236208" y="252374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B4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→ TF-IDF → embeddings → transformer / RAG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126480" y="2834640"/>
            <a:ext cx="256032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2D9E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36208" y="288036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7A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/ telemetría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6236208" y="307238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B4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 → Isolation Forest → autoencoder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126480" y="3383280"/>
            <a:ext cx="2560320" cy="475488"/>
          </a:xfrm>
          <a:prstGeom prst="roundRect">
            <a:avLst>
              <a:gd name="adj" fmla="val 15385"/>
            </a:avLst>
          </a:prstGeom>
          <a:solidFill>
            <a:srgbClr val="EEF2F5"/>
          </a:solidFill>
          <a:ln w="12700">
            <a:solidFill>
              <a:srgbClr val="D2D9E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236208" y="342900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B5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× ítem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6236208" y="362102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B4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→ vecinos → reglas de asociación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126480" y="3931920"/>
            <a:ext cx="256032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2D9E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236208" y="397764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97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/ audio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6236208" y="416966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B4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preentrenada (ninguna tesis)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457200" y="47777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 de las 37 tesis tienen una tabla o una serie como dato principal. Cada familia se recorre como una escalera (lámina 5).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143000" cy="256032"/>
          </a:xfrm>
          <a:prstGeom prst="roundRect">
            <a:avLst>
              <a:gd name="adj" fmla="val 17857"/>
            </a:avLst>
          </a:prstGeom>
          <a:solidFill>
            <a:srgbClr val="39508F"/>
          </a:solidFill>
          <a:ln w="12700">
            <a:solidFill>
              <a:srgbClr val="3950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0116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MAPA 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719072" y="201168"/>
            <a:ext cx="6995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pregunta decide la tarea y la métrica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7960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/ 43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2 · La pregunta decide la tarea y la métrica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1965960" cy="1463040"/>
          </a:xfrm>
          <a:prstGeom prst="roundRect">
            <a:avLst>
              <a:gd name="adj" fmla="val 5000"/>
            </a:avLst>
          </a:prstGeom>
          <a:solidFill>
            <a:srgbClr val="E0E5F5"/>
          </a:solidFill>
          <a:ln w="12700">
            <a:solidFill>
              <a:srgbClr val="E0E5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5216" y="13441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950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¿Cuánto?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85216" y="17373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85216" y="202082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MAE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585216" y="231343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3B4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de una propiedad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60320" y="1234440"/>
            <a:ext cx="1965960" cy="1463040"/>
          </a:xfrm>
          <a:prstGeom prst="roundRect">
            <a:avLst>
              <a:gd name="adj" fmla="val 5000"/>
            </a:avLst>
          </a:prstGeom>
          <a:solidFill>
            <a:srgbClr val="E0E5F5"/>
          </a:solidFill>
          <a:ln w="12700">
            <a:solidFill>
              <a:srgbClr val="E0E5F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688336" y="13441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950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¿Sí o no?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688336" y="17373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688336" y="202082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precisión · recall · PR-AUC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2688336" y="231343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3B4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¿faltará a la cita?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1234440"/>
            <a:ext cx="1965960" cy="1463040"/>
          </a:xfrm>
          <a:prstGeom prst="roundRect">
            <a:avLst>
              <a:gd name="adj" fmla="val 5000"/>
            </a:avLst>
          </a:prstGeom>
          <a:solidFill>
            <a:srgbClr val="E0E5F5"/>
          </a:solidFill>
          <a:ln w="12700">
            <a:solidFill>
              <a:srgbClr val="E0E5F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91456" y="13441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950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¿Cuánto mañana?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791456" y="17373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Pronóstico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791456" y="202082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MAPE · MASE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4791456" y="231343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3B4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del sábado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766560" y="1234440"/>
            <a:ext cx="1965960" cy="1463040"/>
          </a:xfrm>
          <a:prstGeom prst="roundRect">
            <a:avLst>
              <a:gd name="adj" fmla="val 5000"/>
            </a:avLst>
          </a:prstGeom>
          <a:solidFill>
            <a:srgbClr val="E0E5F5"/>
          </a:solidFill>
          <a:ln w="12700">
            <a:solidFill>
              <a:srgbClr val="E0E5F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94576" y="13441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950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grupos hay?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894576" y="17373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Agrupamiento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894576" y="202082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silueta + negocio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6894576" y="231343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3B4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prospecto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2834640"/>
            <a:ext cx="1965960" cy="1463040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85216" y="2944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950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raro?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585216" y="33375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Anomalías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85216" y="362102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recall + falsas alarmas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585216" y="391363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3B4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fuera de lo normal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560320" y="2834640"/>
            <a:ext cx="1965960" cy="1463040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688336" y="2944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950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le gustaría?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2688336" y="33375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2688336" y="362102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precisión en los 5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2688336" y="391363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3B4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libros para este lector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63440" y="2834640"/>
            <a:ext cx="1965960" cy="1463040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791456" y="2944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950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dice el texto?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4791456" y="33375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(PLN)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4791456" y="362102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F1 por clase o campo</a:t>
            </a:r>
            <a:endParaRPr lang="en-US" sz="850" dirty="0"/>
          </a:p>
        </p:txBody>
      </p:sp>
      <p:sp>
        <p:nvSpPr>
          <p:cNvPr id="41" name="Text 39"/>
          <p:cNvSpPr txBox="1"/>
          <p:nvPr/>
        </p:nvSpPr>
        <p:spPr>
          <a:xfrm>
            <a:off x="4791456" y="391363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3B4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intención del mensaje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766560" y="2834640"/>
            <a:ext cx="1965960" cy="1463040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894576" y="2944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950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¿Cuál conviene?</a:t>
            </a:r>
            <a:endParaRPr lang="en-US" sz="1600" dirty="0"/>
          </a:p>
        </p:txBody>
      </p:sp>
      <p:sp>
        <p:nvSpPr>
          <p:cNvPr id="44" name="Text 42"/>
          <p:cNvSpPr txBox="1"/>
          <p:nvPr/>
        </p:nvSpPr>
        <p:spPr>
          <a:xfrm>
            <a:off x="6894576" y="33375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/ optimización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6894576" y="362102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costo vs. heurística</a:t>
            </a:r>
            <a:endParaRPr lang="en-US" sz="850" dirty="0"/>
          </a:p>
        </p:txBody>
      </p:sp>
      <p:sp>
        <p:nvSpPr>
          <p:cNvPr id="46" name="Text 44"/>
          <p:cNvSpPr txBox="1"/>
          <p:nvPr/>
        </p:nvSpPr>
        <p:spPr>
          <a:xfrm>
            <a:off x="6894576" y="391363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3B4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frecuencias de micros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457200" y="47777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Dos preguntas en una tesis (predecir demanda y recomendar reposición) = dos tareas, dos métricas, dos escaleras.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143000" cy="256032"/>
          </a:xfrm>
          <a:prstGeom prst="roundRect">
            <a:avLst>
              <a:gd name="adj" fmla="val 17857"/>
            </a:avLst>
          </a:prstGeom>
          <a:solidFill>
            <a:srgbClr val="1B5A4C"/>
          </a:solidFill>
          <a:ln w="12700">
            <a:solidFill>
              <a:srgbClr val="1B5A4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0116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MÉTODO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719072" y="201168"/>
            <a:ext cx="6995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escalera: se sube solo si el escalón gana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7960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/ 43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 familia se recorre como una escalera de tres escalones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3154680"/>
            <a:ext cx="2651760" cy="1325880"/>
          </a:xfrm>
          <a:prstGeom prst="roundRect">
            <a:avLst>
              <a:gd name="adj" fmla="val 551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326440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1B5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ESCALÓN 1 · LÍNEA BASE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34838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que no aprende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37947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97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(ventas de bebidas):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99592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 estacional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41970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5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MAPE 22 %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246120" y="2240280"/>
            <a:ext cx="2651760" cy="2240280"/>
          </a:xfrm>
          <a:prstGeom prst="roundRect">
            <a:avLst>
              <a:gd name="adj" fmla="val 3265"/>
            </a:avLst>
          </a:prstGeom>
          <a:solidFill>
            <a:srgbClr val="DBE9E5"/>
          </a:solidFill>
          <a:ln w="12700">
            <a:solidFill>
              <a:srgbClr val="DBE9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383280" y="235000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1B5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ESCALÓN 2 · MODELO SÓLIDO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3383280" y="25694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que casi siempre basta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383280" y="28803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97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(ventas de bebidas):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3383280" y="308152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Holt-Winters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383280" y="32826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5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MAPE 15 %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035040" y="1325880"/>
            <a:ext cx="2651760" cy="3154680"/>
          </a:xfrm>
          <a:prstGeom prst="roundRect">
            <a:avLst>
              <a:gd name="adj" fmla="val 2759"/>
            </a:avLst>
          </a:prstGeom>
          <a:solidFill>
            <a:srgbClr val="E0E5F5"/>
          </a:solidFill>
          <a:ln w="12700">
            <a:solidFill>
              <a:srgbClr val="E0E5F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72200" y="143560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1B5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ESCALÓN 3 · MODELO EXIGENTE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6172200" y="16550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que hay que justificar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172200" y="19659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97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(ventas de bebidas):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6172200" y="216712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 con rezagos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172200" y="23682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5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MAPE 15 %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154680" y="3108960"/>
            <a:ext cx="91440" cy="-274320"/>
          </a:xfrm>
          <a:prstGeom prst="line">
            <a:avLst/>
          </a:prstGeom>
          <a:noFill/>
          <a:ln w="19050">
            <a:solidFill>
              <a:srgbClr val="1B5A4C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943600" y="2194560"/>
            <a:ext cx="91440" cy="-274320"/>
          </a:xfrm>
          <a:prstGeom prst="line">
            <a:avLst/>
          </a:prstGeom>
          <a:noFill/>
          <a:ln w="19050">
            <a:solidFill>
              <a:srgbClr val="1B5A4C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3246120" y="137160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sube solo si el nuevo gana al anterior. Aquí el escalón 3 empata con el 2: la tesis se queda en Holt-Winters, y eso es un resultado.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59028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Datos simulados; la escalera completa, en la lámina 16.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143000" cy="256032"/>
          </a:xfrm>
          <a:prstGeom prst="roundRect">
            <a:avLst>
              <a:gd name="adj" fmla="val 17857"/>
            </a:avLst>
          </a:prstGeom>
          <a:solidFill>
            <a:srgbClr val="39508F"/>
          </a:solidFill>
          <a:ln w="12700">
            <a:solidFill>
              <a:srgbClr val="3950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0116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CRITERIO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719072" y="201168"/>
            <a:ext cx="6995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Cuándo sí y cuándo no aprendizaje profundo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7960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/ 43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learning: solo cuando el dato lo exige</a:t>
            </a:r>
            <a:endParaRPr lang="en-US" sz="2400" dirty="0"/>
          </a:p>
        </p:txBody>
      </p:sp>
      <p:pic>
        <p:nvPicPr>
          <p:cNvPr id="7" name="Image 0" descr="/tmp/claude-0/-home-claude/94d87a7e-2026-57da-a708-b5745215c64e/scratchpad/build/figs3/f06_cuadrant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115568"/>
            <a:ext cx="5577840" cy="33832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17920" y="114300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45936" y="121615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3950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TRES REGLAS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6345936" y="1417320"/>
            <a:ext cx="22128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o serie: árboles y lineales ganan; la red casi nunca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Texto: red sí, pero preentrenada (embeddings, BERT)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o audio: red sí, siempre por transferencia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17920" y="2971800"/>
            <a:ext cx="2468880" cy="1508760"/>
          </a:xfrm>
          <a:prstGeom prst="roundRect">
            <a:avLst>
              <a:gd name="adj" fmla="val 4848"/>
            </a:avLst>
          </a:prstGeom>
          <a:solidFill>
            <a:srgbClr val="F3E9D2"/>
          </a:solidFill>
          <a:ln w="12700">
            <a:solidFill>
              <a:srgbClr val="F3E9D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345936" y="304495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C62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EL TRIBUNAL</a:t>
            </a:r>
            <a:endParaRPr lang="en-US" sz="800" dirty="0"/>
          </a:p>
        </p:txBody>
      </p:sp>
      <p:sp>
        <p:nvSpPr>
          <p:cNvPr id="13" name="Text 10"/>
          <p:cNvSpPr txBox="1"/>
          <p:nvPr/>
        </p:nvSpPr>
        <p:spPr>
          <a:xfrm>
            <a:off x="6345936" y="3246120"/>
            <a:ext cx="22128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"Dato tabular, 800 filas. El boosting ganó a la red en mi validación (tabla X) y la literatura lo respalda (Grinsztajn et al., 2022)."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143000" cy="256032"/>
          </a:xfrm>
          <a:prstGeom prst="roundRect">
            <a:avLst>
              <a:gd name="adj" fmla="val 17857"/>
            </a:avLst>
          </a:prstGeom>
          <a:solidFill>
            <a:srgbClr val="1B5A4C"/>
          </a:solidFill>
          <a:ln w="12700">
            <a:solidFill>
              <a:srgbClr val="1B5A4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0116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 1/9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719072" y="201168"/>
            <a:ext cx="6995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Supervisado · regresión · la base de todo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7960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/ 43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Regresión lineal (con freno: Ridge, Lasso)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2852928" cy="256032"/>
          </a:xfrm>
          <a:prstGeom prst="roundRect">
            <a:avLst>
              <a:gd name="adj" fmla="val 17857"/>
            </a:avLst>
          </a:prstGeom>
          <a:solidFill>
            <a:srgbClr val="131A21"/>
          </a:solidFill>
          <a:ln w="12700">
            <a:solidFill>
              <a:srgbClr val="131A2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097280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LinearRegression · Ridge · Lasso</a:t>
            </a:r>
            <a:endParaRPr lang="en-US" sz="800" dirty="0"/>
          </a:p>
        </p:txBody>
      </p:sp>
      <p:pic>
        <p:nvPicPr>
          <p:cNvPr id="9" name="Image 0" descr="/tmp/claude-0/-home-claude/94d87a7e-2026-57da-a708-b5745215c64e/scratchpad/build/figs3/m01_line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44752"/>
            <a:ext cx="5532120" cy="30632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217920" y="141732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DBE9E5"/>
          </a:solidFill>
          <a:ln w="12700">
            <a:solidFill>
              <a:srgbClr val="DBE9E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45936" y="149047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1B5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ÚSALO CUANDO</a:t>
            </a:r>
            <a:endParaRPr lang="en-US" sz="800" dirty="0"/>
          </a:p>
        </p:txBody>
      </p:sp>
      <p:sp>
        <p:nvSpPr>
          <p:cNvPr id="12" name="Text 9"/>
          <p:cNvSpPr txBox="1"/>
          <p:nvPr/>
        </p:nvSpPr>
        <p:spPr>
          <a:xfrm>
            <a:off x="6345936" y="1691640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pregunta es "¿cuánto?" y la relación es proporcional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Pocas filas o muchas columnas → Ridge / Lasso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217920" y="269748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F6E1DE"/>
          </a:solidFill>
          <a:ln w="12700">
            <a:solidFill>
              <a:srgbClr val="F6E1D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45936" y="277063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A83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EVÍTALO CUANDO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6345936" y="2971800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relación se curva o se satura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valores extremos sin tratar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217920" y="3977640"/>
            <a:ext cx="2468880" cy="548640"/>
          </a:xfrm>
          <a:prstGeom prst="roundRect">
            <a:avLst>
              <a:gd name="adj" fmla="val 1333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45936" y="404164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MÉTRICA</a:t>
            </a:r>
            <a:endParaRPr lang="en-US" sz="800" dirty="0"/>
          </a:p>
        </p:txBody>
      </p:sp>
      <p:sp>
        <p:nvSpPr>
          <p:cNvPr id="18" name="Text 15"/>
          <p:cNvSpPr txBox="1"/>
          <p:nvPr/>
        </p:nvSpPr>
        <p:spPr>
          <a:xfrm>
            <a:off x="6345936" y="4224528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· RMSE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4590288"/>
            <a:ext cx="5577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5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SIGUIENTE LÍMITE  →  ¿Y si la pregunta es "sí o no"? → Regresión logística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143000" cy="256032"/>
          </a:xfrm>
          <a:prstGeom prst="roundRect">
            <a:avLst>
              <a:gd name="adj" fmla="val 17857"/>
            </a:avLst>
          </a:prstGeom>
          <a:solidFill>
            <a:srgbClr val="1B5A4C"/>
          </a:solidFill>
          <a:ln w="12700">
            <a:solidFill>
              <a:srgbClr val="1B5A4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0116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 2/9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719072" y="201168"/>
            <a:ext cx="6995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Supervisado · clasificación · línea base de todo "sí o no"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7960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/ 43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Regresión logística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1764792" cy="256032"/>
          </a:xfrm>
          <a:prstGeom prst="roundRect">
            <a:avLst>
              <a:gd name="adj" fmla="val 17857"/>
            </a:avLst>
          </a:prstGeom>
          <a:solidFill>
            <a:srgbClr val="131A21"/>
          </a:solidFill>
          <a:ln w="12700">
            <a:solidFill>
              <a:srgbClr val="131A2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097280"/>
            <a:ext cx="1764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LogisticRegression</a:t>
            </a:r>
            <a:endParaRPr lang="en-US" sz="800" dirty="0"/>
          </a:p>
        </p:txBody>
      </p:sp>
      <p:pic>
        <p:nvPicPr>
          <p:cNvPr id="9" name="Image 0" descr="/tmp/claude-0/-home-claude/94d87a7e-2026-57da-a708-b5745215c64e/scratchpad/build/figs3/m02_logistic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44752"/>
            <a:ext cx="5532120" cy="30632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217920" y="141732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DBE9E5"/>
          </a:solidFill>
          <a:ln w="12700">
            <a:solidFill>
              <a:srgbClr val="DBE9E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45936" y="149047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1B5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ÚSALO CUANDO</a:t>
            </a:r>
            <a:endParaRPr lang="en-US" sz="800" dirty="0"/>
          </a:p>
        </p:txBody>
      </p:sp>
      <p:sp>
        <p:nvSpPr>
          <p:cNvPr id="12" name="Text 9"/>
          <p:cNvSpPr txBox="1"/>
          <p:nvPr/>
        </p:nvSpPr>
        <p:spPr>
          <a:xfrm>
            <a:off x="6345936" y="1691640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respuesta es sí / no y quieres una probabilidad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que explicar qué factores pesan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217920" y="269748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F6E1DE"/>
          </a:solidFill>
          <a:ln w="12700">
            <a:solidFill>
              <a:srgbClr val="F6E1D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45936" y="277063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A83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EVÍTALO CUANDO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6345936" y="2971800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Relaciones por umbrales o interacciones (árbol, bosque)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crudo sin vectorizar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217920" y="3977640"/>
            <a:ext cx="2468880" cy="548640"/>
          </a:xfrm>
          <a:prstGeom prst="roundRect">
            <a:avLst>
              <a:gd name="adj" fmla="val 1333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45936" y="404164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MÉTRICA</a:t>
            </a:r>
            <a:endParaRPr lang="en-US" sz="800" dirty="0"/>
          </a:p>
        </p:txBody>
      </p:sp>
      <p:sp>
        <p:nvSpPr>
          <p:cNvPr id="18" name="Text 15"/>
          <p:cNvSpPr txBox="1"/>
          <p:nvPr/>
        </p:nvSpPr>
        <p:spPr>
          <a:xfrm>
            <a:off x="6345936" y="4224528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 · recall · PR-AUC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4590288"/>
            <a:ext cx="5577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5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SIGUIENTE LÍMITE  →  ¿Y si no queremos asumir ninguna forma? → KNN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143000" cy="256032"/>
          </a:xfrm>
          <a:prstGeom prst="roundRect">
            <a:avLst>
              <a:gd name="adj" fmla="val 17857"/>
            </a:avLst>
          </a:prstGeom>
          <a:solidFill>
            <a:srgbClr val="1B5A4C"/>
          </a:solidFill>
          <a:ln w="12700">
            <a:solidFill>
              <a:srgbClr val="1B5A4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0116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 3/9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719072" y="201168"/>
            <a:ext cx="6995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Supervisado · por parecido · recomendación por vecinos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7960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/ 43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KNN · K vecinos más cercanos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3630168" cy="256032"/>
          </a:xfrm>
          <a:prstGeom prst="roundRect">
            <a:avLst>
              <a:gd name="adj" fmla="val 17857"/>
            </a:avLst>
          </a:prstGeom>
          <a:solidFill>
            <a:srgbClr val="131A21"/>
          </a:solidFill>
          <a:ln w="12700">
            <a:solidFill>
              <a:srgbClr val="131A2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097280"/>
            <a:ext cx="3630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KNeighborsClassifier · KNeighborsRegressor</a:t>
            </a:r>
            <a:endParaRPr lang="en-US" sz="800" dirty="0"/>
          </a:p>
        </p:txBody>
      </p:sp>
      <p:pic>
        <p:nvPicPr>
          <p:cNvPr id="9" name="Image 0" descr="/tmp/claude-0/-home-claude/94d87a7e-2026-57da-a708-b5745215c64e/scratchpad/build/figs3/m03_kn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44752"/>
            <a:ext cx="5532120" cy="30632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217920" y="141732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DBE9E5"/>
          </a:solidFill>
          <a:ln w="12700">
            <a:solidFill>
              <a:srgbClr val="DBE9E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45936" y="149047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1B5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ÚSALO CUANDO</a:t>
            </a:r>
            <a:endParaRPr lang="en-US" sz="800" dirty="0"/>
          </a:p>
        </p:txBody>
      </p:sp>
      <p:sp>
        <p:nvSpPr>
          <p:cNvPr id="12" name="Text 9"/>
          <p:cNvSpPr txBox="1"/>
          <p:nvPr/>
        </p:nvSpPr>
        <p:spPr>
          <a:xfrm>
            <a:off x="6345936" y="1691640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"¿A qué se parece?": recomendar por vecinos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mediana, variables numéricas (escaladas)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217920" y="269748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F6E1DE"/>
          </a:solidFill>
          <a:ln w="12700">
            <a:solidFill>
              <a:srgbClr val="F6E1D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45936" y="277063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A83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EVÍTALO CUANDO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6345936" y="2971800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Millones de registros en tiempo real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crudo; escalas distintas sin normalizar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217920" y="3977640"/>
            <a:ext cx="2468880" cy="548640"/>
          </a:xfrm>
          <a:prstGeom prst="roundRect">
            <a:avLst>
              <a:gd name="adj" fmla="val 1333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45936" y="404164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MÉTRICA</a:t>
            </a:r>
            <a:endParaRPr lang="en-US" sz="800" dirty="0"/>
          </a:p>
        </p:txBody>
      </p:sp>
      <p:sp>
        <p:nvSpPr>
          <p:cNvPr id="18" name="Text 15"/>
          <p:cNvSpPr txBox="1"/>
          <p:nvPr/>
        </p:nvSpPr>
        <p:spPr>
          <a:xfrm>
            <a:off x="6345936" y="4224528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 en los 5 primeros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4590288"/>
            <a:ext cx="5577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5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SIGUIENTE LÍMITE  →  ¿Y para clasificar texto? → Naive Bayes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143000" cy="256032"/>
          </a:xfrm>
          <a:prstGeom prst="roundRect">
            <a:avLst>
              <a:gd name="adj" fmla="val 17857"/>
            </a:avLst>
          </a:prstGeom>
          <a:solidFill>
            <a:srgbClr val="3E6F8A"/>
          </a:solidFill>
          <a:ln w="12700">
            <a:solidFill>
              <a:srgbClr val="3E6F8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0116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 4/9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719072" y="201168"/>
            <a:ext cx="6995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Supervisado · texto · línea base de PLN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7960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43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Naive Bayes (sobre TF-IDF)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2775204" cy="256032"/>
          </a:xfrm>
          <a:prstGeom prst="roundRect">
            <a:avLst>
              <a:gd name="adj" fmla="val 17857"/>
            </a:avLst>
          </a:prstGeom>
          <a:solidFill>
            <a:srgbClr val="131A21"/>
          </a:solidFill>
          <a:ln w="12700">
            <a:solidFill>
              <a:srgbClr val="131A2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097280"/>
            <a:ext cx="27752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MultinomialNB + TfidfVectorizer</a:t>
            </a:r>
            <a:endParaRPr lang="en-US" sz="800" dirty="0"/>
          </a:p>
        </p:txBody>
      </p:sp>
      <p:pic>
        <p:nvPicPr>
          <p:cNvPr id="9" name="Image 0" descr="/tmp/claude-0/-home-claude/94d87a7e-2026-57da-a708-b5745215c64e/scratchpad/build/figs3/m04_naive_bay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44752"/>
            <a:ext cx="5532120" cy="30632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217920" y="141732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DBE9E5"/>
          </a:solidFill>
          <a:ln w="12700">
            <a:solidFill>
              <a:srgbClr val="DBE9E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45936" y="149047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1B5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ÚSALO CUANDO</a:t>
            </a:r>
            <a:endParaRPr lang="en-US" sz="800" dirty="0"/>
          </a:p>
        </p:txBody>
      </p:sp>
      <p:sp>
        <p:nvSpPr>
          <p:cNvPr id="12" name="Text 9"/>
          <p:cNvSpPr txBox="1"/>
          <p:nvPr/>
        </p:nvSpPr>
        <p:spPr>
          <a:xfrm>
            <a:off x="6345936" y="1691640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Clasificar textos cortos por tema o intención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Pocos ejemplos etiquetados; línea base antes de un transformer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217920" y="269748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F6E1DE"/>
          </a:solidFill>
          <a:ln w="12700">
            <a:solidFill>
              <a:srgbClr val="F6E1D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45936" y="277063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A83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EVÍTALO CUANDO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6345936" y="2971800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negación o el orden cambian el sentido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que extraer campos, no clasificar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217920" y="3977640"/>
            <a:ext cx="2468880" cy="548640"/>
          </a:xfrm>
          <a:prstGeom prst="roundRect">
            <a:avLst>
              <a:gd name="adj" fmla="val 1333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45936" y="404164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MÉTRICA</a:t>
            </a:r>
            <a:endParaRPr lang="en-US" sz="800" dirty="0"/>
          </a:p>
        </p:txBody>
      </p:sp>
      <p:sp>
        <p:nvSpPr>
          <p:cNvPr id="18" name="Text 15"/>
          <p:cNvSpPr txBox="1"/>
          <p:nvPr/>
        </p:nvSpPr>
        <p:spPr>
          <a:xfrm>
            <a:off x="6345936" y="4224528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macro por clase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4590288"/>
            <a:ext cx="5577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E6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SIGUIENTE LÍMITE  →  ¿Y si no tienes la respuesta de antemano? → K-Means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143000" cy="256032"/>
          </a:xfrm>
          <a:prstGeom prst="roundRect">
            <a:avLst>
              <a:gd name="adj" fmla="val 17857"/>
            </a:avLst>
          </a:prstGeom>
          <a:solidFill>
            <a:srgbClr val="1B5A4C"/>
          </a:solidFill>
          <a:ln w="12700">
            <a:solidFill>
              <a:srgbClr val="1B5A4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0116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 5/9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719072" y="201168"/>
            <a:ext cx="6995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supervisado · agrupamiento · sin etiquetas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7960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43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 (y DBSCAN, jerárquico)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3552444" cy="256032"/>
          </a:xfrm>
          <a:prstGeom prst="roundRect">
            <a:avLst>
              <a:gd name="adj" fmla="val 17857"/>
            </a:avLst>
          </a:prstGeom>
          <a:solidFill>
            <a:srgbClr val="131A21"/>
          </a:solidFill>
          <a:ln w="12700">
            <a:solidFill>
              <a:srgbClr val="131A2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097280"/>
            <a:ext cx="35524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KMeans · DBSCAN · AgglomerativeClustering</a:t>
            </a:r>
            <a:endParaRPr lang="en-US" sz="800" dirty="0"/>
          </a:p>
        </p:txBody>
      </p:sp>
      <p:pic>
        <p:nvPicPr>
          <p:cNvPr id="9" name="Image 0" descr="/tmp/claude-0/-home-claude/94d87a7e-2026-57da-a708-b5745215c64e/scratchpad/build/figs3/m05_kmean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44752"/>
            <a:ext cx="5532120" cy="30632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217920" y="141732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DBE9E5"/>
          </a:solidFill>
          <a:ln w="12700">
            <a:solidFill>
              <a:srgbClr val="DBE9E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45936" y="149047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1B5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ÚSALO CUANDO</a:t>
            </a:r>
            <a:endParaRPr lang="en-US" sz="800" dirty="0"/>
          </a:p>
        </p:txBody>
      </p:sp>
      <p:sp>
        <p:nvSpPr>
          <p:cNvPr id="12" name="Text 9"/>
          <p:cNvSpPr txBox="1"/>
          <p:nvPr/>
        </p:nvSpPr>
        <p:spPr>
          <a:xfrm>
            <a:off x="6345936" y="1691640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etiqueta y buscas tipos de clientes o productos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paso previo: los grupos se vuelven variables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217920" y="269748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F6E1DE"/>
          </a:solidFill>
          <a:ln w="12700">
            <a:solidFill>
              <a:srgbClr val="F6E1D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45936" y="277063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A83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EVÍTALO CUANDO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6345936" y="2971800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tienes la etiqueta (usa un clasificador)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alargados o desiguales (usa DBSCAN)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217920" y="3977640"/>
            <a:ext cx="2468880" cy="548640"/>
          </a:xfrm>
          <a:prstGeom prst="roundRect">
            <a:avLst>
              <a:gd name="adj" fmla="val 1333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45936" y="404164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MÉTRICA</a:t>
            </a:r>
            <a:endParaRPr lang="en-US" sz="800" dirty="0"/>
          </a:p>
        </p:txBody>
      </p:sp>
      <p:sp>
        <p:nvSpPr>
          <p:cNvPr id="18" name="Text 15"/>
          <p:cNvSpPr txBox="1"/>
          <p:nvPr/>
        </p:nvSpPr>
        <p:spPr>
          <a:xfrm>
            <a:off x="6345936" y="4224528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silueta + lectura del negocio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4590288"/>
            <a:ext cx="5577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5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SIGUIENTE LÍMITE  →  De vuelta al supervisado, con un pendiente: explicar → Árbol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143000" cy="256032"/>
          </a:xfrm>
          <a:prstGeom prst="roundRect">
            <a:avLst>
              <a:gd name="adj" fmla="val 17857"/>
            </a:avLst>
          </a:prstGeom>
          <a:solidFill>
            <a:srgbClr val="1B5A4C"/>
          </a:solidFill>
          <a:ln w="12700">
            <a:solidFill>
              <a:srgbClr val="1B5A4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0116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 6/9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719072" y="201168"/>
            <a:ext cx="6995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Supervisado · el más explicable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7960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43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Árbol de decisión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3840480" cy="256032"/>
          </a:xfrm>
          <a:prstGeom prst="roundRect">
            <a:avLst>
              <a:gd name="adj" fmla="val 17857"/>
            </a:avLst>
          </a:prstGeom>
          <a:solidFill>
            <a:srgbClr val="131A21"/>
          </a:solidFill>
          <a:ln w="12700">
            <a:solidFill>
              <a:srgbClr val="131A2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0972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DecisionTreeClassifier · DecisionTreeRegressor</a:t>
            </a:r>
            <a:endParaRPr lang="en-US" sz="800" dirty="0"/>
          </a:p>
        </p:txBody>
      </p:sp>
      <p:pic>
        <p:nvPicPr>
          <p:cNvPr id="9" name="Image 0" descr="/tmp/claude-0/-home-claude/94d87a7e-2026-57da-a708-b5745215c64e/scratchpad/build/figs3/m06_arbo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44752"/>
            <a:ext cx="5532120" cy="30632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217920" y="141732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DBE9E5"/>
          </a:solidFill>
          <a:ln w="12700">
            <a:solidFill>
              <a:srgbClr val="DBE9E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45936" y="149047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1B5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ÚSALO CUANDO</a:t>
            </a:r>
            <a:endParaRPr lang="en-US" sz="800" dirty="0"/>
          </a:p>
        </p:txBody>
      </p:sp>
      <p:sp>
        <p:nvSpPr>
          <p:cNvPr id="12" name="Text 9"/>
          <p:cNvSpPr txBox="1"/>
          <p:nvPr/>
        </p:nvSpPr>
        <p:spPr>
          <a:xfrm>
            <a:off x="6345936" y="1691640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explicación importa tanto como la precisión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numéricas y de categoría, sin escalar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217920" y="269748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F6E1DE"/>
          </a:solidFill>
          <a:ln w="12700">
            <a:solidFill>
              <a:srgbClr val="F6E1D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45936" y="277063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A83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EVÍTALO CUANDO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6345936" y="2971800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Necesitas estabilidad (un dato cambia todo el árbol)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Buscas la máxima precisión (bosque, boosting)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217920" y="3977640"/>
            <a:ext cx="2468880" cy="548640"/>
          </a:xfrm>
          <a:prstGeom prst="roundRect">
            <a:avLst>
              <a:gd name="adj" fmla="val 1333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45936" y="404164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MÉTRICA</a:t>
            </a:r>
            <a:endParaRPr lang="en-US" sz="800" dirty="0"/>
          </a:p>
        </p:txBody>
      </p:sp>
      <p:sp>
        <p:nvSpPr>
          <p:cNvPr id="18" name="Text 15"/>
          <p:cNvSpPr txBox="1"/>
          <p:nvPr/>
        </p:nvSpPr>
        <p:spPr>
          <a:xfrm>
            <a:off x="6345936" y="4224528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 la tarea + profundidad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4590288"/>
            <a:ext cx="5577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5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SIGUIENTE LÍMITE  →  Un árbol solo es frágil; ¿un bosque entero? → Random Forest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143000" cy="256032"/>
          </a:xfrm>
          <a:prstGeom prst="roundRect">
            <a:avLst>
              <a:gd name="adj" fmla="val 17857"/>
            </a:avLst>
          </a:prstGeom>
          <a:solidFill>
            <a:srgbClr val="1B5A4C"/>
          </a:solidFill>
          <a:ln w="12700">
            <a:solidFill>
              <a:srgbClr val="1B5A4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0116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 7/9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719072" y="201168"/>
            <a:ext cx="6995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Supervisado · ensamble en paralelo · el escalón 2 por defecto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7960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43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 · bosque aleatorio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3840480" cy="256032"/>
          </a:xfrm>
          <a:prstGeom prst="roundRect">
            <a:avLst>
              <a:gd name="adj" fmla="val 17857"/>
            </a:avLst>
          </a:prstGeom>
          <a:solidFill>
            <a:srgbClr val="131A21"/>
          </a:solidFill>
          <a:ln w="12700">
            <a:solidFill>
              <a:srgbClr val="131A2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0972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RandomForestClassifier · RandomForestRegressor</a:t>
            </a:r>
            <a:endParaRPr lang="en-US" sz="800" dirty="0"/>
          </a:p>
        </p:txBody>
      </p:sp>
      <p:pic>
        <p:nvPicPr>
          <p:cNvPr id="9" name="Image 0" descr="/tmp/claude-0/-home-claude/94d87a7e-2026-57da-a708-b5745215c64e/scratchpad/build/figs3/m07_random_fore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44752"/>
            <a:ext cx="5532120" cy="30632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217920" y="141732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DBE9E5"/>
          </a:solidFill>
          <a:ln w="12700">
            <a:solidFill>
              <a:srgbClr val="DBE9E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45936" y="149047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1B5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ÚSALO CUANDO</a:t>
            </a:r>
            <a:endParaRPr lang="en-US" sz="800" dirty="0"/>
          </a:p>
        </p:txBody>
      </p:sp>
      <p:sp>
        <p:nvSpPr>
          <p:cNvPr id="12" name="Text 9"/>
          <p:cNvSpPr txBox="1"/>
          <p:nvPr/>
        </p:nvSpPr>
        <p:spPr>
          <a:xfrm>
            <a:off x="6345936" y="1691640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y quieres un resultado sólido sin ajuste fino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Necesitas saber qué variables importan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217920" y="269748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F6E1DE"/>
          </a:solidFill>
          <a:ln w="12700">
            <a:solidFill>
              <a:srgbClr val="F6E1D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45936" y="277063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A83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EVÍTALO CUANDO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6345936" y="2971800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caso por caso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con tendencia: no extrapola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217920" y="3977640"/>
            <a:ext cx="2468880" cy="548640"/>
          </a:xfrm>
          <a:prstGeom prst="roundRect">
            <a:avLst>
              <a:gd name="adj" fmla="val 1333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45936" y="404164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MÉTRICA</a:t>
            </a:r>
            <a:endParaRPr lang="en-US" sz="800" dirty="0"/>
          </a:p>
        </p:txBody>
      </p:sp>
      <p:sp>
        <p:nvSpPr>
          <p:cNvPr id="18" name="Text 15"/>
          <p:cNvSpPr txBox="1"/>
          <p:nvPr/>
        </p:nvSpPr>
        <p:spPr>
          <a:xfrm>
            <a:off x="6345936" y="4224528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 la tarea + importancia de variables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4590288"/>
            <a:ext cx="5577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5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SIGUIENTE LÍMITE  →  ¿Y si necesito exprimir la máxima precisión? → Boosting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143000" cy="256032"/>
          </a:xfrm>
          <a:prstGeom prst="roundRect">
            <a:avLst>
              <a:gd name="adj" fmla="val 17857"/>
            </a:avLst>
          </a:prstGeom>
          <a:solidFill>
            <a:srgbClr val="1B5A4C"/>
          </a:solidFill>
          <a:ln w="12700">
            <a:solidFill>
              <a:srgbClr val="1B5A4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0116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 8/9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719072" y="201168"/>
            <a:ext cx="6995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Supervisado · boosting · el escalón 3 en tablas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7960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43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Potenciación de gradiente · XGBoost (y CatBoost)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3163824" cy="256032"/>
          </a:xfrm>
          <a:prstGeom prst="roundRect">
            <a:avLst>
              <a:gd name="adj" fmla="val 17857"/>
            </a:avLst>
          </a:prstGeom>
          <a:solidFill>
            <a:srgbClr val="131A21"/>
          </a:solidFill>
          <a:ln w="12700">
            <a:solidFill>
              <a:srgbClr val="131A2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097280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XGBClassifier · HistGradientBoosting</a:t>
            </a:r>
            <a:endParaRPr lang="en-US" sz="800" dirty="0"/>
          </a:p>
        </p:txBody>
      </p:sp>
      <p:pic>
        <p:nvPicPr>
          <p:cNvPr id="9" name="Image 0" descr="/tmp/claude-0/-home-claude/94d87a7e-2026-57da-a708-b5745215c64e/scratchpad/build/figs3/m08_boost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44752"/>
            <a:ext cx="5532120" cy="30632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217920" y="141732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DBE9E5"/>
          </a:solidFill>
          <a:ln w="12700">
            <a:solidFill>
              <a:srgbClr val="DBE9E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45936" y="149047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1B5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ÚSALO CUANDO</a:t>
            </a:r>
            <a:endParaRPr lang="en-US" sz="800" dirty="0"/>
          </a:p>
        </p:txBody>
      </p:sp>
      <p:sp>
        <p:nvSpPr>
          <p:cNvPr id="12" name="Text 9"/>
          <p:cNvSpPr txBox="1"/>
          <p:nvPr/>
        </p:nvSpPr>
        <p:spPr>
          <a:xfrm>
            <a:off x="6345936" y="1691640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precisión importa más que la explicación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ganaste con el bosque y queda margen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217920" y="269748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F6E1DE"/>
          </a:solidFill>
          <a:ln w="12700">
            <a:solidFill>
              <a:srgbClr val="F6E1D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45936" y="277063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A83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EVÍTALO CUANDO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6345936" y="2971800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de unos cientos de filas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tiempo para ajustar con validación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217920" y="3977640"/>
            <a:ext cx="2468880" cy="548640"/>
          </a:xfrm>
          <a:prstGeom prst="roundRect">
            <a:avLst>
              <a:gd name="adj" fmla="val 1333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45936" y="404164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MÉTRICA</a:t>
            </a:r>
            <a:endParaRPr lang="en-US" sz="800" dirty="0"/>
          </a:p>
        </p:txBody>
      </p:sp>
      <p:sp>
        <p:nvSpPr>
          <p:cNvPr id="18" name="Text 15"/>
          <p:cNvSpPr txBox="1"/>
          <p:nvPr/>
        </p:nvSpPr>
        <p:spPr>
          <a:xfrm>
            <a:off x="6345936" y="4224528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 la tarea + curva en validación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4590288"/>
            <a:ext cx="5577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5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SIGUIENTE LÍMITE  →  ¿Y cuando además hace falta velocidad? → LightGBM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143000" cy="256032"/>
          </a:xfrm>
          <a:prstGeom prst="roundRect">
            <a:avLst>
              <a:gd name="adj" fmla="val 17857"/>
            </a:avLst>
          </a:prstGeom>
          <a:solidFill>
            <a:srgbClr val="1B5A4C"/>
          </a:solidFill>
          <a:ln w="12700">
            <a:solidFill>
              <a:srgbClr val="1B5A4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0116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 9/9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719072" y="201168"/>
            <a:ext cx="6995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Supervisado · boosting rápido · cuando manda la latencia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7960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/ 43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LightGBM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2697480" cy="256032"/>
          </a:xfrm>
          <a:prstGeom prst="roundRect">
            <a:avLst>
              <a:gd name="adj" fmla="val 17857"/>
            </a:avLst>
          </a:prstGeom>
          <a:solidFill>
            <a:srgbClr val="131A21"/>
          </a:solidFill>
          <a:ln w="12700">
            <a:solidFill>
              <a:srgbClr val="131A2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09728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LGBMClassifier · LGBMRegressor</a:t>
            </a:r>
            <a:endParaRPr lang="en-US" sz="800" dirty="0"/>
          </a:p>
        </p:txBody>
      </p:sp>
      <p:pic>
        <p:nvPicPr>
          <p:cNvPr id="9" name="Image 0" descr="/tmp/claude-0/-home-claude/94d87a7e-2026-57da-a708-b5745215c64e/scratchpad/build/figs3/m09_lightgb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44752"/>
            <a:ext cx="5532120" cy="30632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217920" y="141732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DBE9E5"/>
          </a:solidFill>
          <a:ln w="12700">
            <a:solidFill>
              <a:srgbClr val="DBE9E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45936" y="149047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1B5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ÚSALO CUANDO</a:t>
            </a:r>
            <a:endParaRPr lang="en-US" sz="800" dirty="0"/>
          </a:p>
        </p:txBody>
      </p:sp>
      <p:sp>
        <p:nvSpPr>
          <p:cNvPr id="12" name="Text 9"/>
          <p:cNvSpPr txBox="1"/>
          <p:nvPr/>
        </p:nvSpPr>
        <p:spPr>
          <a:xfrm>
            <a:off x="6345936" y="1691640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Millones de filas o de peticiones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Muchas columnas de categoría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217920" y="269748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F6E1DE"/>
          </a:solidFill>
          <a:ln w="12700">
            <a:solidFill>
              <a:srgbClr val="F6E1D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45936" y="277063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A83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EVÍTALO CUANDO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6345936" y="2971800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Pocos datos: sobreajusta más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problema de velocidad (no aporta)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217920" y="3977640"/>
            <a:ext cx="2468880" cy="548640"/>
          </a:xfrm>
          <a:prstGeom prst="roundRect">
            <a:avLst>
              <a:gd name="adj" fmla="val 1333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45936" y="404164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MÉTRICA</a:t>
            </a:r>
            <a:endParaRPr lang="en-US" sz="800" dirty="0"/>
          </a:p>
        </p:txBody>
      </p:sp>
      <p:sp>
        <p:nvSpPr>
          <p:cNvPr id="18" name="Text 15"/>
          <p:cNvSpPr txBox="1"/>
          <p:nvPr/>
        </p:nvSpPr>
        <p:spPr>
          <a:xfrm>
            <a:off x="6345936" y="4224528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 la tarea + latencia (ms)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4590288"/>
            <a:ext cx="5577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5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SIGUIENTE LÍMITE  →  Los nueve trabajan sobre tablas. ¿Y si el dato no lo es?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143000" cy="256032"/>
          </a:xfrm>
          <a:prstGeom prst="roundRect">
            <a:avLst>
              <a:gd name="adj" fmla="val 17857"/>
            </a:avLst>
          </a:prstGeom>
          <a:solidFill>
            <a:srgbClr val="96501F"/>
          </a:solidFill>
          <a:ln w="12700">
            <a:solidFill>
              <a:srgbClr val="9650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0116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AÑADIDO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719072" y="201168"/>
            <a:ext cx="6995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Series con fecha · la familia de 15 tesis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7960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/ 43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Series de tiempo: la escalera, medida sobre ventas diarias</a:t>
            </a:r>
            <a:endParaRPr lang="en-US" sz="2400" dirty="0"/>
          </a:p>
        </p:txBody>
      </p:sp>
      <p:pic>
        <p:nvPicPr>
          <p:cNvPr id="7" name="Image 0" descr="/tmp/claude-0/-home-claude/94d87a7e-2026-57da-a708-b5745215c64e/scratchpad/build/figs3/f16_seri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143000"/>
            <a:ext cx="5577840" cy="33375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217920" y="114300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65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ESCALERA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6217920" y="1362456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309360" y="1362456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65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601968" y="140817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 estacional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6601968" y="159105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B4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igual que hace 7 días · MAPE 22 %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6217920" y="1874520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F2E6DC"/>
          </a:solidFill>
          <a:ln w="12700">
            <a:solidFill>
              <a:srgbClr val="F2E6D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09360" y="18745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65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601968" y="19202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Holt-Winters / SARIMA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6601968" y="21031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B4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nivel, tendencia y ritmo · MAPE 15 %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217920" y="2386584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F2E6DC"/>
          </a:solidFill>
          <a:ln w="12700">
            <a:solidFill>
              <a:srgbClr val="F2E6D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309360" y="2386584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65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601968" y="243230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 con rezagos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6601968" y="261518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B4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hace_1, hace_7, día, feriado · MAPE 15 %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6217920" y="2898648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F2E6DC"/>
          </a:solidFill>
          <a:ln w="12700">
            <a:solidFill>
              <a:srgbClr val="F2E6D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309360" y="289864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65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6601968" y="294436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6601968" y="31272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B4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con miles de series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6217920" y="3447288"/>
            <a:ext cx="24688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96501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327648" y="3520440"/>
            <a:ext cx="224942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MÉTRICA </a:t>
            </a:r>
            <a:pPr indent="0" marL="0">
              <a:buNone/>
            </a:pPr>
            <a:r>
              <a:rPr lang="en-US" sz="9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 o MASE por ventana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PARTICIÓN </a:t>
            </a:r>
            <a:pPr indent="0" marL="0">
              <a:buNone/>
            </a:pPr>
            <a:r>
              <a:rPr lang="en-US" sz="9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 por fecha; validación deslizante; nunca k-fold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143000" cy="256032"/>
          </a:xfrm>
          <a:prstGeom prst="roundRect">
            <a:avLst>
              <a:gd name="adj" fmla="val 17857"/>
            </a:avLst>
          </a:prstGeom>
          <a:solidFill>
            <a:srgbClr val="7A3A5E"/>
          </a:solidFill>
          <a:ln w="12700">
            <a:solidFill>
              <a:srgbClr val="7A3A5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0116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AÑADIDO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719072" y="201168"/>
            <a:ext cx="6995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Eventos y telemetría · la familia de 7 tesis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7960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/ 43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Anomalías: aprender "lo normal" y marcar lo que se sale</a:t>
            </a:r>
            <a:endParaRPr lang="en-US" sz="2400" dirty="0"/>
          </a:p>
        </p:txBody>
      </p:sp>
      <p:pic>
        <p:nvPicPr>
          <p:cNvPr id="7" name="Image 0" descr="/tmp/claude-0/-home-claude/94d87a7e-2026-57da-a708-b5745215c64e/scratchpad/build/figs3/f17_anomalia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143000"/>
            <a:ext cx="5577840" cy="33375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217920" y="114300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7A3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ESCALERA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6217920" y="1362456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309360" y="1362456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601968" y="140817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 fijo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6601968" y="159105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B4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&gt; 90 % · ve 4 de 8 incidentes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6217920" y="1874520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EFE0E8"/>
          </a:solidFill>
          <a:ln w="12700">
            <a:solidFill>
              <a:srgbClr val="EFE0E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09360" y="18745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601968" y="19202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 normal a esta hora" + margen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6601968" y="21031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B4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ritmo del día · ve 8 de 8, 0,8 alarmas/sem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217920" y="2386584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EFE0E8"/>
          </a:solidFill>
          <a:ln w="12700">
            <a:solidFill>
              <a:srgbClr val="EFE0E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309360" y="2386584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601968" y="243230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6601968" y="261518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B4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etiquetas · ve 5 de 8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6217920" y="2898648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EFE0E8"/>
          </a:solidFill>
          <a:ln w="12700">
            <a:solidFill>
              <a:srgbClr val="EFE0E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309360" y="289864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6601968" y="294436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 / LSTM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6601968" y="31272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B4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con mucha telemetría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6217920" y="3447288"/>
            <a:ext cx="24688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7A3A5E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327648" y="3520440"/>
            <a:ext cx="224942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MÉTRICA </a:t>
            </a:r>
            <a:pPr indent="0" marL="0">
              <a:buNone/>
            </a:pPr>
            <a:r>
              <a:rPr lang="en-US" sz="9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de incidentes + falsas alarmas por semana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PARTICIÓN </a:t>
            </a:r>
            <a:pPr indent="0" marL="0">
              <a:buNone/>
            </a:pPr>
            <a:r>
              <a:rPr lang="en-US" sz="9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fecha (y por servidor o dispositivo)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143000" cy="256032"/>
          </a:xfrm>
          <a:prstGeom prst="roundRect">
            <a:avLst>
              <a:gd name="adj" fmla="val 17857"/>
            </a:avLst>
          </a:prstGeom>
          <a:solidFill>
            <a:srgbClr val="3E6F8A"/>
          </a:solidFill>
          <a:ln w="12700">
            <a:solidFill>
              <a:srgbClr val="3E6F8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0116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AÑADIDO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719072" y="201168"/>
            <a:ext cx="6995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Texto I · clasificar · la familia de 9 tesis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7960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/ 43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Texto para clasificar: el texto se vuelve tabla</a:t>
            </a:r>
            <a:endParaRPr lang="en-US" sz="2400" dirty="0"/>
          </a:p>
        </p:txBody>
      </p:sp>
      <p:pic>
        <p:nvPicPr>
          <p:cNvPr id="7" name="Image 0" descr="/tmp/claude-0/-home-claude/94d87a7e-2026-57da-a708-b5745215c64e/scratchpad/build/figs3/f18_text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143000"/>
            <a:ext cx="5577840" cy="33375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217920" y="114300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3E6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ESCALERA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6217920" y="1362456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309360" y="1362456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6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601968" y="140817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por palabras clave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6601968" y="159105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B4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diez expresiones · F1 0,43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6217920" y="1874520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DDE9EF"/>
          </a:solidFill>
          <a:ln w="12700">
            <a:solidFill>
              <a:srgbClr val="DDE9E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09360" y="18745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6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601968" y="19202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logística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6601968" y="21031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B4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 palabras · F1 0,95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217920" y="2386584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DDE9EF"/>
          </a:solidFill>
          <a:ln w="12700">
            <a:solidFill>
              <a:srgbClr val="DDE9E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309360" y="2386584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6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601968" y="243230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+ clasificador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6601968" y="261518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B4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vectores de significado, preentrenados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6217920" y="2898648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DDE9EF"/>
          </a:solidFill>
          <a:ln w="12700">
            <a:solidFill>
              <a:srgbClr val="DDE9E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309360" y="289864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6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6601968" y="294436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ajustado / LLM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6601968" y="31272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B4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en español o few-shot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6217920" y="3447288"/>
            <a:ext cx="24688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3E6F8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327648" y="3520440"/>
            <a:ext cx="224942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MÉTRICA </a:t>
            </a:r>
            <a:pPr indent="0" marL="0">
              <a:buNone/>
            </a:pPr>
            <a:r>
              <a:rPr lang="en-US" sz="9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macro; acuerdo con anotador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PARTICIÓN </a:t>
            </a:r>
            <a:pPr indent="0" marL="0">
              <a:buNone/>
            </a:pPr>
            <a:r>
              <a:rPr lang="en-US" sz="9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conversación, expediente o estudiante (GroupKFold)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143000" cy="256032"/>
          </a:xfrm>
          <a:prstGeom prst="roundRect">
            <a:avLst>
              <a:gd name="adj" fmla="val 17857"/>
            </a:avLst>
          </a:prstGeom>
          <a:solidFill>
            <a:srgbClr val="5B3F8F"/>
          </a:solidFill>
          <a:ln w="12700">
            <a:solidFill>
              <a:srgbClr val="5B3F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0116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AÑADIDO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719072" y="201168"/>
            <a:ext cx="6995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Texto II · extraer y generar · RAG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7960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/ 43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Extraer y generar: del regex al RAG con cita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1155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B3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EJEMPLO · REDACCIÓN ASISTIDA EN LA FISCALÍA (LAHOR)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1554480" cy="1325880"/>
          </a:xfrm>
          <a:prstGeom prst="roundRect">
            <a:avLst>
              <a:gd name="adj" fmla="val 551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1463040"/>
            <a:ext cx="1335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B3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PREGUNTA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1691640"/>
            <a:ext cx="13350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"¿Qué plazo tiene la apelación incidental?"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029968" y="2029968"/>
            <a:ext cx="100584" cy="0"/>
          </a:xfrm>
          <a:prstGeom prst="line">
            <a:avLst/>
          </a:prstGeom>
          <a:noFill/>
          <a:ln w="19050">
            <a:solidFill>
              <a:srgbClr val="5B3F8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139696" y="1371600"/>
            <a:ext cx="1554480" cy="1325880"/>
          </a:xfrm>
          <a:prstGeom prst="roundRect">
            <a:avLst>
              <a:gd name="adj" fmla="val 551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249424" y="1463040"/>
            <a:ext cx="1335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B3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RECUPERAR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2249424" y="1691640"/>
            <a:ext cx="13350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en el corpus normativo los 3 fragmentos más parecidos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712464" y="2029968"/>
            <a:ext cx="100584" cy="0"/>
          </a:xfrm>
          <a:prstGeom prst="line">
            <a:avLst/>
          </a:prstGeom>
          <a:noFill/>
          <a:ln w="19050">
            <a:solidFill>
              <a:srgbClr val="5B3F8F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822192" y="1371600"/>
            <a:ext cx="1554480" cy="1325880"/>
          </a:xfrm>
          <a:prstGeom prst="roundRect">
            <a:avLst>
              <a:gd name="adj" fmla="val 551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931920" y="1463040"/>
            <a:ext cx="1335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B3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FRAGMENTOS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3931920" y="1691640"/>
            <a:ext cx="13350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253 CPP: "…en el plazo de tres días…" (+2 fragmentos)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394960" y="2029968"/>
            <a:ext cx="100584" cy="0"/>
          </a:xfrm>
          <a:prstGeom prst="line">
            <a:avLst/>
          </a:prstGeom>
          <a:noFill/>
          <a:ln w="19050">
            <a:solidFill>
              <a:srgbClr val="5B3F8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504688" y="1371600"/>
            <a:ext cx="1554480" cy="1325880"/>
          </a:xfrm>
          <a:prstGeom prst="roundRect">
            <a:avLst>
              <a:gd name="adj" fmla="val 551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14416" y="1463040"/>
            <a:ext cx="1335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B3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GENERAR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5614416" y="1691640"/>
            <a:ext cx="13350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redacta usando solo esos fragmentos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077456" y="2029968"/>
            <a:ext cx="100584" cy="0"/>
          </a:xfrm>
          <a:prstGeom prst="line">
            <a:avLst/>
          </a:prstGeom>
          <a:noFill/>
          <a:ln w="19050">
            <a:solidFill>
              <a:srgbClr val="5B3F8F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187184" y="1371600"/>
            <a:ext cx="1554480" cy="1325880"/>
          </a:xfrm>
          <a:prstGeom prst="roundRect">
            <a:avLst>
              <a:gd name="adj" fmla="val 5517"/>
            </a:avLst>
          </a:prstGeom>
          <a:solidFill>
            <a:srgbClr val="EAE3F5"/>
          </a:solidFill>
          <a:ln w="12700">
            <a:solidFill>
              <a:srgbClr val="EAE3F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296912" y="1463040"/>
            <a:ext cx="1335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B3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RESPUESTA CON CITA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7296912" y="1691640"/>
            <a:ext cx="13350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"El plazo es de tres días (Art. 253 CPP)." → ¿existe el artículo? ✓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28803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B3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ESCALERA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57200" y="310896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66928" y="3108960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3F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914400" y="3200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+ diccionarios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914400" y="35844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B4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fechas, montos, expedientes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560320" y="310896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EAE3F5"/>
          </a:solidFill>
          <a:ln w="12700">
            <a:solidFill>
              <a:srgbClr val="EAE3F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670048" y="3108960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3F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34" name="Text 32"/>
          <p:cNvSpPr txBox="1"/>
          <p:nvPr/>
        </p:nvSpPr>
        <p:spPr>
          <a:xfrm>
            <a:off x="3017520" y="3200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 preentrenado (spaCy)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3017520" y="35844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B4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personas, lugares, fechas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63440" y="310896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EAE3F5"/>
          </a:solidFill>
          <a:ln w="12700">
            <a:solidFill>
              <a:srgbClr val="EAE3F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773168" y="3108960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3F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38" name="Text 36"/>
          <p:cNvSpPr txBox="1"/>
          <p:nvPr/>
        </p:nvSpPr>
        <p:spPr>
          <a:xfrm>
            <a:off x="5120640" y="3200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con salida estructurada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5120640" y="35844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B4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en JSON; medir campo a campo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766560" y="310896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EAE3F5"/>
          </a:solidFill>
          <a:ln w="12700">
            <a:solidFill>
              <a:srgbClr val="EAE3F5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876288" y="3108960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3F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42" name="Text 40"/>
          <p:cNvSpPr txBox="1"/>
          <p:nvPr/>
        </p:nvSpPr>
        <p:spPr>
          <a:xfrm>
            <a:off x="7223760" y="3200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con cita verificable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7223760" y="35844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B4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citas que existen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7200" y="411480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5B3F8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94360" y="411480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1A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MÉTRICA  F1 por campo · % de citas verificables     PARTICIÓN  preguntas y documentos nuevos, escritos por otra persona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143000" cy="256032"/>
          </a:xfrm>
          <a:prstGeom prst="roundRect">
            <a:avLst>
              <a:gd name="adj" fmla="val 17857"/>
            </a:avLst>
          </a:prstGeom>
          <a:solidFill>
            <a:srgbClr val="1B5A4C"/>
          </a:solidFill>
          <a:ln w="12700">
            <a:solidFill>
              <a:srgbClr val="1B5A4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0116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AÑADIDO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719072" y="201168"/>
            <a:ext cx="6995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Usuario × ítem · recomendación y canasta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7960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/ 43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Recomendación: «quienes compraron esto, también…»</a:t>
            </a:r>
            <a:endParaRPr lang="en-US" sz="2400" dirty="0"/>
          </a:p>
        </p:txBody>
      </p:sp>
      <p:pic>
        <p:nvPicPr>
          <p:cNvPr id="7" name="Image 0" descr="/tmp/claude-0/-home-claude/94d87a7e-2026-57da-a708-b5745215c64e/scratchpad/build/figs3/f20_recomendac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143000"/>
            <a:ext cx="5577840" cy="33375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217920" y="114300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1B5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ESCALERA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6217920" y="1362456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309360" y="1362456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5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601968" y="140817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más popular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6601968" y="159105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B4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todos lo más vendido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6217920" y="1874520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DBE9E5"/>
          </a:solidFill>
          <a:ln w="12700">
            <a:solidFill>
              <a:srgbClr val="DBE9E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09360" y="18745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5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601968" y="19202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Vecinos por ítem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6601968" y="21031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B4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similitud entre libros (coseno)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217920" y="2386584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DBE9E5"/>
          </a:solidFill>
          <a:ln w="12700">
            <a:solidFill>
              <a:srgbClr val="DBE9E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309360" y="2386584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5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601968" y="243230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Factorización de matrices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6601968" y="261518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B4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con miles de usuarios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6217920" y="2898648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DBE9E5"/>
          </a:solidFill>
          <a:ln w="12700">
            <a:solidFill>
              <a:srgbClr val="DBE9E5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309360" y="289864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5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6601968" y="294436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asociación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6601968" y="31272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B4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canasta: Apriori / FP-Growth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6217920" y="3447288"/>
            <a:ext cx="24688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1B5A4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327648" y="3520440"/>
            <a:ext cx="224942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MÉTRICA </a:t>
            </a:r>
            <a:pPr indent="0" marL="0">
              <a:buNone/>
            </a:pPr>
            <a:r>
              <a:rPr lang="en-US" sz="9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 y recall en los k primeros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PARTICIÓN </a:t>
            </a:r>
            <a:pPr indent="0" marL="0">
              <a:buNone/>
            </a:pPr>
            <a:r>
              <a:rPr lang="en-US" sz="9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tiempo: compras hasta hoy → evaluar con la semana siguiente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284732" cy="256032"/>
          </a:xfrm>
          <a:prstGeom prst="roundRect">
            <a:avLst>
              <a:gd name="adj" fmla="val 17857"/>
            </a:avLst>
          </a:prstGeom>
          <a:solidFill>
            <a:srgbClr val="39508F"/>
          </a:solidFill>
          <a:ln w="12700">
            <a:solidFill>
              <a:srgbClr val="3950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01168"/>
            <a:ext cx="12847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DEEP LEARNING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860804" y="201168"/>
            <a:ext cx="68534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Nueve arquitecturas · en simple · cuál sirve para qué dato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7960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/ 43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learning: nueve formas de red, una por tipo de dato</a:t>
            </a:r>
            <a:endParaRPr lang="en-US" sz="2400" dirty="0"/>
          </a:p>
        </p:txBody>
      </p:sp>
      <p:pic>
        <p:nvPicPr>
          <p:cNvPr id="7" name="Image 0" descr="/tmp/claude-0/-home-claude/94d87a7e-2026-57da-a708-b5745215c64e/scratchpad/build/figs3/dl0_resume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115568"/>
            <a:ext cx="8229600" cy="32461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44074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3B4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nueve arquitecturas tomada del post de Gladys Choque Ulloa (#DatosConGladys, LinkedIn); esquemas y ejemplos propios. En las nueve láminas siguientes: qué hace cada una en una frase, una analogía y si le sirve a alguna tesis de la cohorte.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595628" cy="256032"/>
          </a:xfrm>
          <a:prstGeom prst="roundRect">
            <a:avLst>
              <a:gd name="adj" fmla="val 17857"/>
            </a:avLst>
          </a:prstGeom>
          <a:solidFill>
            <a:srgbClr val="39508F"/>
          </a:solidFill>
          <a:ln w="12700">
            <a:solidFill>
              <a:srgbClr val="3950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01168"/>
            <a:ext cx="15956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DEEP LEARNING 1/9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2171700" y="201168"/>
            <a:ext cx="65425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Arquitecturas de deep learning · en simple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7960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 / 43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MLP · perceptrón multicapa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754380" cy="256032"/>
          </a:xfrm>
          <a:prstGeom prst="roundRect">
            <a:avLst>
              <a:gd name="adj" fmla="val 17857"/>
            </a:avLst>
          </a:prstGeom>
          <a:solidFill>
            <a:srgbClr val="131A21"/>
          </a:solidFill>
          <a:ln w="12700">
            <a:solidFill>
              <a:srgbClr val="131A2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097280"/>
            <a:ext cx="7543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TABLA</a:t>
            </a:r>
            <a:endParaRPr lang="en-US" sz="800" dirty="0"/>
          </a:p>
        </p:txBody>
      </p:sp>
      <p:pic>
        <p:nvPicPr>
          <p:cNvPr id="9" name="Image 0" descr="/tmp/claude-0/-home-claude/94d87a7e-2026-57da-a708-b5745215c64e/scratchpad/build/figs3/dl1_ml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44752"/>
            <a:ext cx="5532120" cy="30632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217920" y="1417320"/>
            <a:ext cx="2468880" cy="987552"/>
          </a:xfrm>
          <a:prstGeom prst="roundRect">
            <a:avLst>
              <a:gd name="adj" fmla="val 740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45936" y="149047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3950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 UNA FRASE</a:t>
            </a:r>
            <a:endParaRPr lang="en-US" sz="800" dirty="0"/>
          </a:p>
        </p:txBody>
      </p:sp>
      <p:sp>
        <p:nvSpPr>
          <p:cNvPr id="12" name="Text 9"/>
          <p:cNvSpPr txBox="1"/>
          <p:nvPr/>
        </p:nvSpPr>
        <p:spPr>
          <a:xfrm>
            <a:off x="6345936" y="1691640"/>
            <a:ext cx="22128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Capas de neuronas conectadas; cada conexión tiene un peso que se ajusta con los datos.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217920" y="2478024"/>
            <a:ext cx="2468880" cy="777240"/>
          </a:xfrm>
          <a:prstGeom prst="roundRect">
            <a:avLst>
              <a:gd name="adj" fmla="val 9412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45936" y="255117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3950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ANALOGÍA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6345936" y="2752344"/>
            <a:ext cx="22128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3B4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cadena de comités: cada capa vota sobre lo que le pasó la anterior.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3328416"/>
            <a:ext cx="2468880" cy="713232"/>
          </a:xfrm>
          <a:prstGeom prst="roundRect">
            <a:avLst>
              <a:gd name="adj" fmla="val 10256"/>
            </a:avLst>
          </a:prstGeom>
          <a:solidFill>
            <a:srgbClr val="DBE9E5"/>
          </a:solidFill>
          <a:ln w="12700">
            <a:solidFill>
              <a:srgbClr val="DBE9E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45936" y="340156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1B5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SIRVE PARA</a:t>
            </a:r>
            <a:endParaRPr lang="en-US" sz="800" dirty="0"/>
          </a:p>
        </p:txBody>
      </p:sp>
      <p:sp>
        <p:nvSpPr>
          <p:cNvPr id="18" name="Text 15"/>
          <p:cNvSpPr txBox="1"/>
          <p:nvPr/>
        </p:nvSpPr>
        <p:spPr>
          <a:xfrm>
            <a:off x="6345936" y="3602736"/>
            <a:ext cx="22128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grandes con muchas interacciones; base de todas las demás.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217920" y="4114800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69767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345936" y="411480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97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HACE FALTA: en tablas gana el boosting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595628" cy="256032"/>
          </a:xfrm>
          <a:prstGeom prst="roundRect">
            <a:avLst>
              <a:gd name="adj" fmla="val 17857"/>
            </a:avLst>
          </a:prstGeom>
          <a:solidFill>
            <a:srgbClr val="39508F"/>
          </a:solidFill>
          <a:ln w="12700">
            <a:solidFill>
              <a:srgbClr val="3950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01168"/>
            <a:ext cx="15956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DEEP LEARNING 2/9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2171700" y="201168"/>
            <a:ext cx="65425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Arquitecturas de deep learning · en simple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7960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/ 43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CNN · red convolucional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2075688" cy="256032"/>
          </a:xfrm>
          <a:prstGeom prst="roundRect">
            <a:avLst>
              <a:gd name="adj" fmla="val 17857"/>
            </a:avLst>
          </a:prstGeom>
          <a:solidFill>
            <a:srgbClr val="131A21"/>
          </a:solidFill>
          <a:ln w="12700">
            <a:solidFill>
              <a:srgbClr val="131A2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097280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IMAGEN · AUDIO · SEÑAL</a:t>
            </a:r>
            <a:endParaRPr lang="en-US" sz="800" dirty="0"/>
          </a:p>
        </p:txBody>
      </p:sp>
      <p:pic>
        <p:nvPicPr>
          <p:cNvPr id="9" name="Image 0" descr="/tmp/claude-0/-home-claude/94d87a7e-2026-57da-a708-b5745215c64e/scratchpad/build/figs3/dl2_cn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44752"/>
            <a:ext cx="5532120" cy="30632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217920" y="1417320"/>
            <a:ext cx="2468880" cy="987552"/>
          </a:xfrm>
          <a:prstGeom prst="roundRect">
            <a:avLst>
              <a:gd name="adj" fmla="val 740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45936" y="149047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3950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 UNA FRASE</a:t>
            </a:r>
            <a:endParaRPr lang="en-US" sz="800" dirty="0"/>
          </a:p>
        </p:txBody>
      </p:sp>
      <p:sp>
        <p:nvSpPr>
          <p:cNvPr id="12" name="Text 9"/>
          <p:cNvSpPr txBox="1"/>
          <p:nvPr/>
        </p:nvSpPr>
        <p:spPr>
          <a:xfrm>
            <a:off x="6345936" y="1691640"/>
            <a:ext cx="22128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filtro pequeño recorre la imagen buscando el mismo patrón en todas partes; capas sucesivas juntan bordes en formas y formas en objetos.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217920" y="2478024"/>
            <a:ext cx="2468880" cy="777240"/>
          </a:xfrm>
          <a:prstGeom prst="roundRect">
            <a:avLst>
              <a:gd name="adj" fmla="val 9412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45936" y="255117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3950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ANALOGÍA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6345936" y="2752344"/>
            <a:ext cx="22128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3B4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lupa que se desliza por la foto buscando siempre la misma marca.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3328416"/>
            <a:ext cx="2468880" cy="713232"/>
          </a:xfrm>
          <a:prstGeom prst="roundRect">
            <a:avLst>
              <a:gd name="adj" fmla="val 10256"/>
            </a:avLst>
          </a:prstGeom>
          <a:solidFill>
            <a:srgbClr val="DBE9E5"/>
          </a:solidFill>
          <a:ln w="12700">
            <a:solidFill>
              <a:srgbClr val="DBE9E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45936" y="340156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1B5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SIRVE PARA</a:t>
            </a:r>
            <a:endParaRPr lang="en-US" sz="800" dirty="0"/>
          </a:p>
        </p:txBody>
      </p:sp>
      <p:sp>
        <p:nvSpPr>
          <p:cNvPr id="18" name="Text 15"/>
          <p:cNvSpPr txBox="1"/>
          <p:nvPr/>
        </p:nvSpPr>
        <p:spPr>
          <a:xfrm>
            <a:off x="6345936" y="3602736"/>
            <a:ext cx="22128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Imágenes, audio (como imagen del sonido), señales de sensores.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217920" y="4114800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69767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345936" y="411480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97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HACE FALTA: ninguna tesis tiene imágenes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595628" cy="256032"/>
          </a:xfrm>
          <a:prstGeom prst="roundRect">
            <a:avLst>
              <a:gd name="adj" fmla="val 17857"/>
            </a:avLst>
          </a:prstGeom>
          <a:solidFill>
            <a:srgbClr val="39508F"/>
          </a:solidFill>
          <a:ln w="12700">
            <a:solidFill>
              <a:srgbClr val="3950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01168"/>
            <a:ext cx="15956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DEEP LEARNING 3/9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2171700" y="201168"/>
            <a:ext cx="65425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Arquitecturas de deep learning · en simple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7960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 / 43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RNN · red recurrente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1531620" cy="256032"/>
          </a:xfrm>
          <a:prstGeom prst="roundRect">
            <a:avLst>
              <a:gd name="adj" fmla="val 17857"/>
            </a:avLst>
          </a:prstGeom>
          <a:solidFill>
            <a:srgbClr val="131A21"/>
          </a:solidFill>
          <a:ln w="12700">
            <a:solidFill>
              <a:srgbClr val="131A2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097280"/>
            <a:ext cx="15316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SECUENCIA CORTA</a:t>
            </a:r>
            <a:endParaRPr lang="en-US" sz="800" dirty="0"/>
          </a:p>
        </p:txBody>
      </p:sp>
      <p:pic>
        <p:nvPicPr>
          <p:cNvPr id="9" name="Image 0" descr="/tmp/claude-0/-home-claude/94d87a7e-2026-57da-a708-b5745215c64e/scratchpad/build/figs3/dl3_rn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44752"/>
            <a:ext cx="5532120" cy="30632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217920" y="1417320"/>
            <a:ext cx="2468880" cy="987552"/>
          </a:xfrm>
          <a:prstGeom prst="roundRect">
            <a:avLst>
              <a:gd name="adj" fmla="val 740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45936" y="149047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3950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 UNA FRASE</a:t>
            </a:r>
            <a:endParaRPr lang="en-US" sz="800" dirty="0"/>
          </a:p>
        </p:txBody>
      </p:sp>
      <p:sp>
        <p:nvSpPr>
          <p:cNvPr id="12" name="Text 9"/>
          <p:cNvSpPr txBox="1"/>
          <p:nvPr/>
        </p:nvSpPr>
        <p:spPr>
          <a:xfrm>
            <a:off x="6345936" y="1691640"/>
            <a:ext cx="22128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la secuencia paso a paso y pasa un "recuerdo" de un paso al siguiente.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217920" y="2478024"/>
            <a:ext cx="2468880" cy="777240"/>
          </a:xfrm>
          <a:prstGeom prst="roundRect">
            <a:avLst>
              <a:gd name="adj" fmla="val 9412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45936" y="255117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3950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ANALOGÍA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6345936" y="2752344"/>
            <a:ext cx="22128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3B4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una novela recordando solo el párrafo anterior.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3328416"/>
            <a:ext cx="2468880" cy="713232"/>
          </a:xfrm>
          <a:prstGeom prst="roundRect">
            <a:avLst>
              <a:gd name="adj" fmla="val 10256"/>
            </a:avLst>
          </a:prstGeom>
          <a:solidFill>
            <a:srgbClr val="DBE9E5"/>
          </a:solidFill>
          <a:ln w="12700">
            <a:solidFill>
              <a:srgbClr val="DBE9E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45936" y="340156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1B5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SIRVE PARA</a:t>
            </a:r>
            <a:endParaRPr lang="en-US" sz="800" dirty="0"/>
          </a:p>
        </p:txBody>
      </p:sp>
      <p:sp>
        <p:nvSpPr>
          <p:cNvPr id="18" name="Text 15"/>
          <p:cNvSpPr txBox="1"/>
          <p:nvPr/>
        </p:nvSpPr>
        <p:spPr>
          <a:xfrm>
            <a:off x="6345936" y="3602736"/>
            <a:ext cx="22128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y texto cortos; hoy casi siempre reemplazada por LSTM, GRU o transformer.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217920" y="4114800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69767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345936" y="411480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97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HACE FALTA: usar LSTM/GRU si acaso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595628" cy="256032"/>
          </a:xfrm>
          <a:prstGeom prst="roundRect">
            <a:avLst>
              <a:gd name="adj" fmla="val 17857"/>
            </a:avLst>
          </a:prstGeom>
          <a:solidFill>
            <a:srgbClr val="39508F"/>
          </a:solidFill>
          <a:ln w="12700">
            <a:solidFill>
              <a:srgbClr val="3950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01168"/>
            <a:ext cx="15956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DEEP LEARNING 4/9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2171700" y="201168"/>
            <a:ext cx="65425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Arquitecturas de deep learning · en simple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7960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 / 43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· LSTM · memoria de largo plazo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1531620" cy="256032"/>
          </a:xfrm>
          <a:prstGeom prst="roundRect">
            <a:avLst>
              <a:gd name="adj" fmla="val 17857"/>
            </a:avLst>
          </a:prstGeom>
          <a:solidFill>
            <a:srgbClr val="131A21"/>
          </a:solidFill>
          <a:ln w="12700">
            <a:solidFill>
              <a:srgbClr val="131A2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097280"/>
            <a:ext cx="15316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SECUENCIA LARGA</a:t>
            </a:r>
            <a:endParaRPr lang="en-US" sz="800" dirty="0"/>
          </a:p>
        </p:txBody>
      </p:sp>
      <p:pic>
        <p:nvPicPr>
          <p:cNvPr id="9" name="Image 0" descr="/tmp/claude-0/-home-claude/94d87a7e-2026-57da-a708-b5745215c64e/scratchpad/build/figs3/dl4_lst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44752"/>
            <a:ext cx="5532120" cy="30632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217920" y="1417320"/>
            <a:ext cx="2468880" cy="987552"/>
          </a:xfrm>
          <a:prstGeom prst="roundRect">
            <a:avLst>
              <a:gd name="adj" fmla="val 740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45936" y="149047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3950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 UNA FRASE</a:t>
            </a:r>
            <a:endParaRPr lang="en-US" sz="800" dirty="0"/>
          </a:p>
        </p:txBody>
      </p:sp>
      <p:sp>
        <p:nvSpPr>
          <p:cNvPr id="12" name="Text 9"/>
          <p:cNvSpPr txBox="1"/>
          <p:nvPr/>
        </p:nvSpPr>
        <p:spPr>
          <a:xfrm>
            <a:off x="6345936" y="1691640"/>
            <a:ext cx="22128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misma idea, con tres compuertas que deciden qué olvidar, qué guardar y qué usar; así recuerda lo importante durante mucho tiempo.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217920" y="2478024"/>
            <a:ext cx="2468880" cy="777240"/>
          </a:xfrm>
          <a:prstGeom prst="roundRect">
            <a:avLst>
              <a:gd name="adj" fmla="val 9412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45936" y="255117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3950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ANALOGÍA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6345936" y="2752344"/>
            <a:ext cx="22128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3B4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libreta con tres reglas: qué tachar, qué anotar y qué leer ahora.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3328416"/>
            <a:ext cx="2468880" cy="713232"/>
          </a:xfrm>
          <a:prstGeom prst="roundRect">
            <a:avLst>
              <a:gd name="adj" fmla="val 10256"/>
            </a:avLst>
          </a:prstGeom>
          <a:solidFill>
            <a:srgbClr val="DBE9E5"/>
          </a:solidFill>
          <a:ln w="12700">
            <a:solidFill>
              <a:srgbClr val="DBE9E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45936" y="340156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1B5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SIRVE PARA</a:t>
            </a:r>
            <a:endParaRPr lang="en-US" sz="800" dirty="0"/>
          </a:p>
        </p:txBody>
      </p:sp>
      <p:sp>
        <p:nvSpPr>
          <p:cNvPr id="18" name="Text 15"/>
          <p:cNvSpPr txBox="1"/>
          <p:nvPr/>
        </p:nvSpPr>
        <p:spPr>
          <a:xfrm>
            <a:off x="6345936" y="3602736"/>
            <a:ext cx="22128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Pronóstico con muchas series o señales crudas de sensores; texto largo antes de los transformers.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217920" y="4114800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8C621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345936" y="411480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C6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CON VOLUMEN: miles de series o señales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595628" cy="256032"/>
          </a:xfrm>
          <a:prstGeom prst="roundRect">
            <a:avLst>
              <a:gd name="adj" fmla="val 17857"/>
            </a:avLst>
          </a:prstGeom>
          <a:solidFill>
            <a:srgbClr val="39508F"/>
          </a:solidFill>
          <a:ln w="12700">
            <a:solidFill>
              <a:srgbClr val="3950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01168"/>
            <a:ext cx="15956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DEEP LEARNING 5/9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2171700" y="201168"/>
            <a:ext cx="65425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Arquitecturas de deep learning · en simple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7960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 / 43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· GRU · unidad recurrente con compuertas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2075688" cy="256032"/>
          </a:xfrm>
          <a:prstGeom prst="roundRect">
            <a:avLst>
              <a:gd name="adj" fmla="val 17857"/>
            </a:avLst>
          </a:prstGeom>
          <a:solidFill>
            <a:srgbClr val="131A21"/>
          </a:solidFill>
          <a:ln w="12700">
            <a:solidFill>
              <a:srgbClr val="131A2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097280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SECUENCIA · MÁS BARATA</a:t>
            </a:r>
            <a:endParaRPr lang="en-US" sz="800" dirty="0"/>
          </a:p>
        </p:txBody>
      </p:sp>
      <p:pic>
        <p:nvPicPr>
          <p:cNvPr id="9" name="Image 0" descr="/tmp/claude-0/-home-claude/94d87a7e-2026-57da-a708-b5745215c64e/scratchpad/build/figs3/dl5_gru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44752"/>
            <a:ext cx="5532120" cy="30632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217920" y="1417320"/>
            <a:ext cx="2468880" cy="987552"/>
          </a:xfrm>
          <a:prstGeom prst="roundRect">
            <a:avLst>
              <a:gd name="adj" fmla="val 740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45936" y="149047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3950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 UNA FRASE</a:t>
            </a:r>
            <a:endParaRPr lang="en-US" sz="800" dirty="0"/>
          </a:p>
        </p:txBody>
      </p:sp>
      <p:sp>
        <p:nvSpPr>
          <p:cNvPr id="12" name="Text 9"/>
          <p:cNvSpPr txBox="1"/>
          <p:nvPr/>
        </p:nvSpPr>
        <p:spPr>
          <a:xfrm>
            <a:off x="6345936" y="1691640"/>
            <a:ext cx="22128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LSTM simplificada: dos compuertas y una sola memoria. Menos parámetros, entrena más rápido y con menos datos.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217920" y="2478024"/>
            <a:ext cx="2468880" cy="777240"/>
          </a:xfrm>
          <a:prstGeom prst="roundRect">
            <a:avLst>
              <a:gd name="adj" fmla="val 9412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45936" y="255117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3950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ANALOGÍA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6345936" y="2752344"/>
            <a:ext cx="22128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3B4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misma libreta, con dos reglas en vez de tres.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3328416"/>
            <a:ext cx="2468880" cy="713232"/>
          </a:xfrm>
          <a:prstGeom prst="roundRect">
            <a:avLst>
              <a:gd name="adj" fmla="val 10256"/>
            </a:avLst>
          </a:prstGeom>
          <a:solidFill>
            <a:srgbClr val="DBE9E5"/>
          </a:solidFill>
          <a:ln w="12700">
            <a:solidFill>
              <a:srgbClr val="DBE9E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45936" y="340156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1B5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SIRVE PARA</a:t>
            </a:r>
            <a:endParaRPr lang="en-US" sz="800" dirty="0"/>
          </a:p>
        </p:txBody>
      </p:sp>
      <p:sp>
        <p:nvSpPr>
          <p:cNvPr id="18" name="Text 15"/>
          <p:cNvSpPr txBox="1"/>
          <p:nvPr/>
        </p:nvSpPr>
        <p:spPr>
          <a:xfrm>
            <a:off x="6345936" y="3602736"/>
            <a:ext cx="22128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mismo que la LSTM cuando hay menos datos o menos cómputo.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217920" y="4114800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8C621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345936" y="411480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C6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CON VOLUMEN: probarla antes que la LSTM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595628" cy="256032"/>
          </a:xfrm>
          <a:prstGeom prst="roundRect">
            <a:avLst>
              <a:gd name="adj" fmla="val 17857"/>
            </a:avLst>
          </a:prstGeom>
          <a:solidFill>
            <a:srgbClr val="39508F"/>
          </a:solidFill>
          <a:ln w="12700">
            <a:solidFill>
              <a:srgbClr val="3950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01168"/>
            <a:ext cx="15956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DEEP LEARNING 6/9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2171700" y="201168"/>
            <a:ext cx="65425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Arquitecturas de deep learning · en simple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7960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 / 43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· Autoencoder · codificar y reconstruir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2075688" cy="256032"/>
          </a:xfrm>
          <a:prstGeom prst="roundRect">
            <a:avLst>
              <a:gd name="adj" fmla="val 17857"/>
            </a:avLst>
          </a:prstGeom>
          <a:solidFill>
            <a:srgbClr val="131A21"/>
          </a:solidFill>
          <a:ln w="12700">
            <a:solidFill>
              <a:srgbClr val="131A2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097280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ANOMALÍAS SIN ETIQUETA</a:t>
            </a:r>
            <a:endParaRPr lang="en-US" sz="800" dirty="0"/>
          </a:p>
        </p:txBody>
      </p:sp>
      <p:pic>
        <p:nvPicPr>
          <p:cNvPr id="9" name="Image 0" descr="/tmp/claude-0/-home-claude/94d87a7e-2026-57da-a708-b5745215c64e/scratchpad/build/figs3/dl6_autoencod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44752"/>
            <a:ext cx="5532120" cy="30632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217920" y="1417320"/>
            <a:ext cx="2468880" cy="987552"/>
          </a:xfrm>
          <a:prstGeom prst="roundRect">
            <a:avLst>
              <a:gd name="adj" fmla="val 740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45936" y="149047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3950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 UNA FRASE</a:t>
            </a:r>
            <a:endParaRPr lang="en-US" sz="800" dirty="0"/>
          </a:p>
        </p:txBody>
      </p:sp>
      <p:sp>
        <p:nvSpPr>
          <p:cNvPr id="12" name="Text 9"/>
          <p:cNvSpPr txBox="1"/>
          <p:nvPr/>
        </p:nvSpPr>
        <p:spPr>
          <a:xfrm>
            <a:off x="6345936" y="1691640"/>
            <a:ext cx="22128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 a comprimir lo normal en un resumen pequeño y a reconstruirlo. Lo raro no se deja reconstruir: error alto = anomalía.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217920" y="2478024"/>
            <a:ext cx="2468880" cy="777240"/>
          </a:xfrm>
          <a:prstGeom prst="roundRect">
            <a:avLst>
              <a:gd name="adj" fmla="val 9412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45936" y="255117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3950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ANALOGÍA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6345936" y="2752344"/>
            <a:ext cx="22128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3B4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copista que solo sabe copiar lo habitual y se equivoca con lo que nunca vio.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3328416"/>
            <a:ext cx="2468880" cy="713232"/>
          </a:xfrm>
          <a:prstGeom prst="roundRect">
            <a:avLst>
              <a:gd name="adj" fmla="val 10256"/>
            </a:avLst>
          </a:prstGeom>
          <a:solidFill>
            <a:srgbClr val="DBE9E5"/>
          </a:solidFill>
          <a:ln w="12700">
            <a:solidFill>
              <a:srgbClr val="DBE9E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45936" y="340156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1B5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SIRVE PARA</a:t>
            </a:r>
            <a:endParaRPr lang="en-US" sz="800" dirty="0"/>
          </a:p>
        </p:txBody>
      </p:sp>
      <p:sp>
        <p:nvSpPr>
          <p:cNvPr id="18" name="Text 15"/>
          <p:cNvSpPr txBox="1"/>
          <p:nvPr/>
        </p:nvSpPr>
        <p:spPr>
          <a:xfrm>
            <a:off x="6345936" y="3602736"/>
            <a:ext cx="22128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Anomalías en telemetría con mucho volumen; compresión y limpieza de ruido.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217920" y="4114800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8C621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345936" y="411480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C6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CON VOLUMEN: escalón 4 de anomalías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595628" cy="256032"/>
          </a:xfrm>
          <a:prstGeom prst="roundRect">
            <a:avLst>
              <a:gd name="adj" fmla="val 17857"/>
            </a:avLst>
          </a:prstGeom>
          <a:solidFill>
            <a:srgbClr val="39508F"/>
          </a:solidFill>
          <a:ln w="12700">
            <a:solidFill>
              <a:srgbClr val="3950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01168"/>
            <a:ext cx="15956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DEEP LEARNING 7/9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2171700" y="201168"/>
            <a:ext cx="65425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Arquitecturas de deep learning · en simple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7960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 / 43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· GAN · redes generativas adversarias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1376172" cy="256032"/>
          </a:xfrm>
          <a:prstGeom prst="roundRect">
            <a:avLst>
              <a:gd name="adj" fmla="val 17857"/>
            </a:avLst>
          </a:prstGeom>
          <a:solidFill>
            <a:srgbClr val="131A21"/>
          </a:solidFill>
          <a:ln w="12700">
            <a:solidFill>
              <a:srgbClr val="131A2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097280"/>
            <a:ext cx="13761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GENERAR DATOS</a:t>
            </a:r>
            <a:endParaRPr lang="en-US" sz="800" dirty="0"/>
          </a:p>
        </p:txBody>
      </p:sp>
      <p:pic>
        <p:nvPicPr>
          <p:cNvPr id="9" name="Image 0" descr="/tmp/claude-0/-home-claude/94d87a7e-2026-57da-a708-b5745215c64e/scratchpad/build/figs3/dl7_ga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44752"/>
            <a:ext cx="5532120" cy="30632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217920" y="1417320"/>
            <a:ext cx="2468880" cy="987552"/>
          </a:xfrm>
          <a:prstGeom prst="roundRect">
            <a:avLst>
              <a:gd name="adj" fmla="val 740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45936" y="149047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3950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 UNA FRASE</a:t>
            </a:r>
            <a:endParaRPr lang="en-US" sz="800" dirty="0"/>
          </a:p>
        </p:txBody>
      </p:sp>
      <p:sp>
        <p:nvSpPr>
          <p:cNvPr id="12" name="Text 9"/>
          <p:cNvSpPr txBox="1"/>
          <p:nvPr/>
        </p:nvSpPr>
        <p:spPr>
          <a:xfrm>
            <a:off x="6345936" y="1691640"/>
            <a:ext cx="22128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redes compiten: una fabrica datos parecidos a los reales y la otra intenta descubrir cuáles son falsos. Las dos mejoran peleando.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217920" y="2478024"/>
            <a:ext cx="2468880" cy="777240"/>
          </a:xfrm>
          <a:prstGeom prst="roundRect">
            <a:avLst>
              <a:gd name="adj" fmla="val 9412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45936" y="255117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3950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ANALOGÍA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6345936" y="2752344"/>
            <a:ext cx="22128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3B4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falsificador y un inspector que se entrenan mutuamente.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3328416"/>
            <a:ext cx="2468880" cy="713232"/>
          </a:xfrm>
          <a:prstGeom prst="roundRect">
            <a:avLst>
              <a:gd name="adj" fmla="val 10256"/>
            </a:avLst>
          </a:prstGeom>
          <a:solidFill>
            <a:srgbClr val="DBE9E5"/>
          </a:solidFill>
          <a:ln w="12700">
            <a:solidFill>
              <a:srgbClr val="DBE9E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45936" y="340156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1B5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SIRVE PARA</a:t>
            </a:r>
            <a:endParaRPr lang="en-US" sz="800" dirty="0"/>
          </a:p>
        </p:txBody>
      </p:sp>
      <p:sp>
        <p:nvSpPr>
          <p:cNvPr id="18" name="Text 15"/>
          <p:cNvSpPr txBox="1"/>
          <p:nvPr/>
        </p:nvSpPr>
        <p:spPr>
          <a:xfrm>
            <a:off x="6345936" y="3602736"/>
            <a:ext cx="22128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imágenes o datos sintéticos; aumentar datos escasos.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217920" y="4114800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69767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345936" y="411480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97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HACE FALTA en esta cohorte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595628" cy="256032"/>
          </a:xfrm>
          <a:prstGeom prst="roundRect">
            <a:avLst>
              <a:gd name="adj" fmla="val 17857"/>
            </a:avLst>
          </a:prstGeom>
          <a:solidFill>
            <a:srgbClr val="39508F"/>
          </a:solidFill>
          <a:ln w="12700">
            <a:solidFill>
              <a:srgbClr val="3950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01168"/>
            <a:ext cx="15956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DEEP LEARNING 8/9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2171700" y="201168"/>
            <a:ext cx="65425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Arquitecturas de deep learning · en simple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7960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 / 43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· Transformer · atención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1842516" cy="256032"/>
          </a:xfrm>
          <a:prstGeom prst="roundRect">
            <a:avLst>
              <a:gd name="adj" fmla="val 17857"/>
            </a:avLst>
          </a:prstGeom>
          <a:solidFill>
            <a:srgbClr val="131A21"/>
          </a:solidFill>
          <a:ln w="12700">
            <a:solidFill>
              <a:srgbClr val="131A2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097280"/>
            <a:ext cx="18425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TEXTO · Y CASI TODO</a:t>
            </a:r>
            <a:endParaRPr lang="en-US" sz="800" dirty="0"/>
          </a:p>
        </p:txBody>
      </p:sp>
      <p:pic>
        <p:nvPicPr>
          <p:cNvPr id="9" name="Image 0" descr="/tmp/claude-0/-home-claude/94d87a7e-2026-57da-a708-b5745215c64e/scratchpad/build/figs3/dl8_transform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44752"/>
            <a:ext cx="5532120" cy="30632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217920" y="1417320"/>
            <a:ext cx="2468880" cy="987552"/>
          </a:xfrm>
          <a:prstGeom prst="roundRect">
            <a:avLst>
              <a:gd name="adj" fmla="val 740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45936" y="149047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3950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 UNA FRASE</a:t>
            </a:r>
            <a:endParaRPr lang="en-US" sz="800" dirty="0"/>
          </a:p>
        </p:txBody>
      </p:sp>
      <p:sp>
        <p:nvSpPr>
          <p:cNvPr id="12" name="Text 9"/>
          <p:cNvSpPr txBox="1"/>
          <p:nvPr/>
        </p:nvSpPr>
        <p:spPr>
          <a:xfrm>
            <a:off x="6345936" y="1691640"/>
            <a:ext cx="22128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palabra mira a todas las demás y decide a cuáles prestar atención. Así entiende negación, contexto y orden sin leer paso a paso.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217920" y="2478024"/>
            <a:ext cx="2468880" cy="777240"/>
          </a:xfrm>
          <a:prstGeom prst="roundRect">
            <a:avLst>
              <a:gd name="adj" fmla="val 9412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45936" y="255117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3950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ANALOGÍA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6345936" y="2752344"/>
            <a:ext cx="22128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3B4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una frase entera de un vistazo, subrayando las palabras que se explican entre sí.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3328416"/>
            <a:ext cx="2468880" cy="713232"/>
          </a:xfrm>
          <a:prstGeom prst="roundRect">
            <a:avLst>
              <a:gd name="adj" fmla="val 10256"/>
            </a:avLst>
          </a:prstGeom>
          <a:solidFill>
            <a:srgbClr val="DBE9E5"/>
          </a:solidFill>
          <a:ln w="12700">
            <a:solidFill>
              <a:srgbClr val="DBE9E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45936" y="340156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1B5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SIRVE PARA</a:t>
            </a:r>
            <a:endParaRPr lang="en-US" sz="800" dirty="0"/>
          </a:p>
        </p:txBody>
      </p:sp>
      <p:sp>
        <p:nvSpPr>
          <p:cNvPr id="18" name="Text 15"/>
          <p:cNvSpPr txBox="1"/>
          <p:nvPr/>
        </p:nvSpPr>
        <p:spPr>
          <a:xfrm>
            <a:off x="6345936" y="3602736"/>
            <a:ext cx="22128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Texto: clasificar, extraer, buscar, generar. Base de BERT y de los LLM.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217920" y="4114800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1B5A4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345936" y="411480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5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SÍ, PREENTRENADO: embeddings, BERT ajustado, RAG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595628" cy="256032"/>
          </a:xfrm>
          <a:prstGeom prst="roundRect">
            <a:avLst>
              <a:gd name="adj" fmla="val 17857"/>
            </a:avLst>
          </a:prstGeom>
          <a:solidFill>
            <a:srgbClr val="39508F"/>
          </a:solidFill>
          <a:ln w="12700">
            <a:solidFill>
              <a:srgbClr val="3950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01168"/>
            <a:ext cx="15956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DEEP LEARNING 9/9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2171700" y="201168"/>
            <a:ext cx="65425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Arquitecturas de deep learning · en simple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7960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/ 43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· GNN · red sobre grafos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1842516" cy="256032"/>
          </a:xfrm>
          <a:prstGeom prst="roundRect">
            <a:avLst>
              <a:gd name="adj" fmla="val 17857"/>
            </a:avLst>
          </a:prstGeom>
          <a:solidFill>
            <a:srgbClr val="131A21"/>
          </a:solidFill>
          <a:ln w="12700">
            <a:solidFill>
              <a:srgbClr val="131A2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097280"/>
            <a:ext cx="18425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GRAFOS · RELACIONES</a:t>
            </a:r>
            <a:endParaRPr lang="en-US" sz="800" dirty="0"/>
          </a:p>
        </p:txBody>
      </p:sp>
      <p:pic>
        <p:nvPicPr>
          <p:cNvPr id="9" name="Image 0" descr="/tmp/claude-0/-home-claude/94d87a7e-2026-57da-a708-b5745215c64e/scratchpad/build/figs3/dl9_gn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44752"/>
            <a:ext cx="5532120" cy="30632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217920" y="1417320"/>
            <a:ext cx="2468880" cy="987552"/>
          </a:xfrm>
          <a:prstGeom prst="roundRect">
            <a:avLst>
              <a:gd name="adj" fmla="val 740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45936" y="149047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3950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 UNA FRASE</a:t>
            </a:r>
            <a:endParaRPr lang="en-US" sz="800" dirty="0"/>
          </a:p>
        </p:txBody>
      </p:sp>
      <p:sp>
        <p:nvSpPr>
          <p:cNvPr id="12" name="Text 9"/>
          <p:cNvSpPr txBox="1"/>
          <p:nvPr/>
        </p:nvSpPr>
        <p:spPr>
          <a:xfrm>
            <a:off x="6345936" y="1691640"/>
            <a:ext cx="22128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el dato es una red de entidades y relaciones, cada nodo se describe resumiendo los "mensajes" de sus vecinos.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217920" y="2478024"/>
            <a:ext cx="2468880" cy="777240"/>
          </a:xfrm>
          <a:prstGeom prst="roundRect">
            <a:avLst>
              <a:gd name="adj" fmla="val 9412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45936" y="255117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3950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ANALOGÍA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6345936" y="2752344"/>
            <a:ext cx="22128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3B4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Conocer a alguien por sus amigos: lo que dicen sus vecinos lo describe.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3328416"/>
            <a:ext cx="2468880" cy="713232"/>
          </a:xfrm>
          <a:prstGeom prst="roundRect">
            <a:avLst>
              <a:gd name="adj" fmla="val 10256"/>
            </a:avLst>
          </a:prstGeom>
          <a:solidFill>
            <a:srgbClr val="DBE9E5"/>
          </a:solidFill>
          <a:ln w="12700">
            <a:solidFill>
              <a:srgbClr val="DBE9E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45936" y="340156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1B5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SIRVE PARA</a:t>
            </a:r>
            <a:endParaRPr lang="en-US" sz="800" dirty="0"/>
          </a:p>
        </p:txBody>
      </p:sp>
      <p:sp>
        <p:nvSpPr>
          <p:cNvPr id="18" name="Text 15"/>
          <p:cNvSpPr txBox="1"/>
          <p:nvPr/>
        </p:nvSpPr>
        <p:spPr>
          <a:xfrm>
            <a:off x="6345936" y="3602736"/>
            <a:ext cx="22128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 entre cuentas, recomendación por grafo, redes de dispositivos o de contratos.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217920" y="4114800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8C621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345936" y="411480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C6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OPCIONAL: solo si la relación es el dato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143000" cy="256032"/>
          </a:xfrm>
          <a:prstGeom prst="roundRect">
            <a:avLst>
              <a:gd name="adj" fmla="val 17857"/>
            </a:avLst>
          </a:prstGeom>
          <a:solidFill>
            <a:srgbClr val="69767F"/>
          </a:solidFill>
          <a:ln w="12700">
            <a:solidFill>
              <a:srgbClr val="69767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0116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GLOSARIO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719072" y="201168"/>
            <a:ext cx="6995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reconocerlos cuando aparezcan en un paper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7960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 / 43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Otros nombres que van a leer (y cuándo importan)</a:t>
            </a:r>
            <a:endParaRPr lang="en-US" sz="24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108960"/>
                <a:gridCol w="32004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69767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Nombre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69767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 una frase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69767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Cuándo importa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frontera con mayor margen; con "kernel", curva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tablas pequeñas; texto con TF-IDF (LinearSVC)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GMM · mezcla de gaussianas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 con grupos elípticos y probabilidad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cuando K-Means fuerza los grupos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muchas columnas → pocas que conservan la variación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visualizar; comprimir telemetría; nunca ajustar con la prueba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Prophet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series con tendencia, estación y feriados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feriados irregulares (verificar mantenimiento actual)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CatBoost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boosting que trata categorías solo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zona, producto, tipo de trámite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Regresión cuantílica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predice un percentil, no el promedio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cuánto stock tener para cubrir el 90 % de los días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Aprendizaje por refuerzo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agente aprende por recompensa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casi nunca en dos semanas; los "agentes" de la cohorte son LLM con herramientas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47777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Ninguno es el primer escalón de nada. Aparecen en el capítulo 2 como "técnicas consideradas y descartadas".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143000" cy="256032"/>
          </a:xfrm>
          <a:prstGeom prst="roundRect">
            <a:avLst>
              <a:gd name="adj" fmla="val 17857"/>
            </a:avLst>
          </a:prstGeom>
          <a:solidFill>
            <a:srgbClr val="7A3A5E"/>
          </a:solidFill>
          <a:ln w="12700">
            <a:solidFill>
              <a:srgbClr val="7A3A5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0116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RESTRICCIÓN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719072" y="201168"/>
            <a:ext cx="6995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Cuando la restricción manda más que la precisión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7960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 / 43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restricciones que deciden antes que la precisión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EEF2F5"/>
          </a:solidFill>
          <a:ln w="12700">
            <a:solidFill>
              <a:srgbClr val="D2D9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2344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EXPLICAR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194560" y="12344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B4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auditor o el tribunal sigue la regla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12344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logística · árbol corto · reglas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315200" y="123444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Vargas, Alarcón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1901952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D2D9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1901952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LATENCIA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194560" y="190195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B4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milisegundos, millones de peticiones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1901952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logística · LightGBM · reglas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0" y="1901952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Cervantes, Serrudo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2569464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EEF2F5"/>
          </a:solidFill>
          <a:ln w="12700">
            <a:solidFill>
              <a:srgbClr val="D2D9E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" y="2569464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COSTO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2194560" y="2569464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B4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GPU, sin presupuesto de API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663440" y="2569464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tabulares · embeddings pequeños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2569464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Cornejo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3236976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D2D9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94360" y="3236976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POCOS DATOS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2194560" y="3236976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B4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cientos de filas, un año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663440" y="3236976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lineal / logística con freno · persistencia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0" y="3236976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Aguilar, Guerrero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3904488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EEF2F5"/>
          </a:solidFill>
          <a:ln w="12700">
            <a:solidFill>
              <a:srgbClr val="D2D9E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94360" y="3904488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3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CLASE RARA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2194560" y="390448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B4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de cada 100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4663440" y="390448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 · umbral por costo · PR-AUC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7315200" y="3904488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Gonzales, Mollo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47777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restricción se declara en el capítulo 3 antes de elegir el modelo: así la elección no parece capricho.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143000" cy="256032"/>
          </a:xfrm>
          <a:prstGeom prst="roundRect">
            <a:avLst>
              <a:gd name="adj" fmla="val 17857"/>
            </a:avLst>
          </a:prstGeom>
          <a:solidFill>
            <a:srgbClr val="1B5A4C"/>
          </a:solidFill>
          <a:ln w="12700">
            <a:solidFill>
              <a:srgbClr val="1B5A4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0116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ELEGIR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719072" y="201168"/>
            <a:ext cx="6995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Seis preguntas para llegar a la escalera correcta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7960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 / 43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Recorre las preguntas con tu tesis en la mano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3108960" cy="548640"/>
          </a:xfrm>
          <a:prstGeom prst="diamond">
            <a:avLst/>
          </a:prstGeom>
          <a:solidFill>
            <a:srgbClr val="DBE9E5"/>
          </a:solidFill>
          <a:ln w="9525">
            <a:solidFill>
              <a:srgbClr val="1B5A4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1887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¿Tienes la respuesta en el histórico?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12984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B5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566160" y="1463040"/>
            <a:ext cx="457200" cy="0"/>
          </a:xfrm>
          <a:prstGeom prst="line">
            <a:avLst/>
          </a:prstGeom>
          <a:noFill/>
          <a:ln w="19050">
            <a:solidFill>
              <a:srgbClr val="1B5A4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069080" y="1234440"/>
            <a:ext cx="4617720" cy="457200"/>
          </a:xfrm>
          <a:prstGeom prst="roundRect">
            <a:avLst>
              <a:gd name="adj" fmla="val 16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206240" y="12344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→ K-Means · raro → umbral, Isolation Forest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011680" y="1737360"/>
            <a:ext cx="0" cy="73152"/>
          </a:xfrm>
          <a:prstGeom prst="line">
            <a:avLst/>
          </a:prstGeom>
          <a:noFill/>
          <a:ln w="19050">
            <a:solidFill>
              <a:srgbClr val="1B5A4C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2084832" y="16916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1B5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SÍ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57200" y="1810512"/>
            <a:ext cx="3108960" cy="548640"/>
          </a:xfrm>
          <a:prstGeom prst="diamond">
            <a:avLst/>
          </a:prstGeom>
          <a:solidFill>
            <a:srgbClr val="DBE9E5"/>
          </a:solidFill>
          <a:ln w="9525">
            <a:solidFill>
              <a:srgbClr val="1B5A4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181051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dato es texto?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3611880" y="1920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B5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SÍ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566160" y="2084832"/>
            <a:ext cx="457200" cy="0"/>
          </a:xfrm>
          <a:prstGeom prst="line">
            <a:avLst/>
          </a:prstGeom>
          <a:noFill/>
          <a:ln w="19050">
            <a:solidFill>
              <a:srgbClr val="1B5A4C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069080" y="1856232"/>
            <a:ext cx="4617720" cy="457200"/>
          </a:xfrm>
          <a:prstGeom prst="roundRect">
            <a:avLst>
              <a:gd name="adj" fmla="val 16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206240" y="185623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clasificar → reglas, TF-IDF, embeddings · extraer → regex, NER, RAG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011680" y="2359152"/>
            <a:ext cx="0" cy="73152"/>
          </a:xfrm>
          <a:prstGeom prst="line">
            <a:avLst/>
          </a:prstGeom>
          <a:noFill/>
          <a:ln w="19050">
            <a:solidFill>
              <a:srgbClr val="1B5A4C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2084832" y="23134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1B5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57200" y="2432304"/>
            <a:ext cx="3108960" cy="548640"/>
          </a:xfrm>
          <a:prstGeom prst="diamond">
            <a:avLst/>
          </a:prstGeom>
          <a:solidFill>
            <a:srgbClr val="DBE9E5"/>
          </a:solidFill>
          <a:ln w="9525">
            <a:solidFill>
              <a:srgbClr val="1B5A4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1520" y="243230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¿Hay fecha y predices "mañana"?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3611880" y="2542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B5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SÍ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566160" y="2706624"/>
            <a:ext cx="457200" cy="0"/>
          </a:xfrm>
          <a:prstGeom prst="line">
            <a:avLst/>
          </a:prstGeom>
          <a:noFill/>
          <a:ln w="19050">
            <a:solidFill>
              <a:srgbClr val="1B5A4C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069080" y="2478024"/>
            <a:ext cx="4617720" cy="457200"/>
          </a:xfrm>
          <a:prstGeom prst="roundRect">
            <a:avLst>
              <a:gd name="adj" fmla="val 16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206240" y="247802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 → Holt-Winters → boosting con rezagos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011680" y="2980944"/>
            <a:ext cx="0" cy="73152"/>
          </a:xfrm>
          <a:prstGeom prst="line">
            <a:avLst/>
          </a:prstGeom>
          <a:noFill/>
          <a:ln w="19050">
            <a:solidFill>
              <a:srgbClr val="1B5A4C"/>
            </a:solidFill>
            <a:prstDash val="solid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2084832" y="293522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1B5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57200" y="3054096"/>
            <a:ext cx="3108960" cy="548640"/>
          </a:xfrm>
          <a:prstGeom prst="diamond">
            <a:avLst/>
          </a:prstGeom>
          <a:solidFill>
            <a:srgbClr val="DBE9E5"/>
          </a:solidFill>
          <a:ln w="9525">
            <a:solidFill>
              <a:srgbClr val="1B5A4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31520" y="3054096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¿Es "qué le gustaría" o "qué va junto"?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3611880" y="316382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B5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SÍ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566160" y="3328416"/>
            <a:ext cx="457200" cy="0"/>
          </a:xfrm>
          <a:prstGeom prst="line">
            <a:avLst/>
          </a:prstGeom>
          <a:noFill/>
          <a:ln w="19050">
            <a:solidFill>
              <a:srgbClr val="1B5A4C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4069080" y="3099816"/>
            <a:ext cx="4617720" cy="457200"/>
          </a:xfrm>
          <a:prstGeom prst="roundRect">
            <a:avLst>
              <a:gd name="adj" fmla="val 16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206240" y="309981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→ vecinos por ítem · canasta → reglas de asociación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011680" y="3602736"/>
            <a:ext cx="0" cy="73152"/>
          </a:xfrm>
          <a:prstGeom prst="line">
            <a:avLst/>
          </a:prstGeom>
          <a:noFill/>
          <a:ln w="19050">
            <a:solidFill>
              <a:srgbClr val="1B5A4C"/>
            </a:solidFill>
            <a:prstDash val="solid"/>
            <a:tailEnd type="triangle"/>
          </a:ln>
        </p:spPr>
      </p:sp>
      <p:sp>
        <p:nvSpPr>
          <p:cNvPr id="38" name="Text 36"/>
          <p:cNvSpPr txBox="1"/>
          <p:nvPr/>
        </p:nvSpPr>
        <p:spPr>
          <a:xfrm>
            <a:off x="2084832" y="35570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1B5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57200" y="3675888"/>
            <a:ext cx="3108960" cy="548640"/>
          </a:xfrm>
          <a:prstGeom prst="diamond">
            <a:avLst/>
          </a:prstGeom>
          <a:solidFill>
            <a:srgbClr val="DBE9E5"/>
          </a:solidFill>
          <a:ln w="9525">
            <a:solidFill>
              <a:srgbClr val="1B5A4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31520" y="367588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¿Es "cuánto" o "sí o no"?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566160" y="3950208"/>
            <a:ext cx="457200" cy="0"/>
          </a:xfrm>
          <a:prstGeom prst="line">
            <a:avLst/>
          </a:prstGeom>
          <a:noFill/>
          <a:ln w="19050">
            <a:solidFill>
              <a:srgbClr val="1B5A4C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4069080" y="3721608"/>
            <a:ext cx="4617720" cy="457200"/>
          </a:xfrm>
          <a:prstGeom prst="roundRect">
            <a:avLst>
              <a:gd name="adj" fmla="val 16000"/>
            </a:avLst>
          </a:prstGeom>
          <a:solidFill>
            <a:srgbClr val="E0E5F5"/>
          </a:solidFill>
          <a:ln w="12700">
            <a:solidFill>
              <a:srgbClr val="E0E5F5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206240" y="372160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 → lineal, bosque, boosting · sí/no → logística, bosque, boosting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57200" y="4315968"/>
            <a:ext cx="8229600" cy="384048"/>
          </a:xfrm>
          <a:prstGeom prst="roundRect">
            <a:avLst>
              <a:gd name="adj" fmla="val 19048"/>
            </a:avLst>
          </a:prstGeom>
          <a:solidFill>
            <a:srgbClr val="EFE0E8"/>
          </a:solidFill>
          <a:ln w="12700">
            <a:solidFill>
              <a:srgbClr val="EFE0E8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94360" y="431596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31A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· ¿QUÉ RESTRICCIÓN MANDA?  explicar → árbol / logística · latencia → LightGBM · pocos datos → lineal con freno · sin GPU → solo redes preentrenadas de texto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284732" cy="256032"/>
          </a:xfrm>
          <a:prstGeom prst="roundRect">
            <a:avLst>
              <a:gd name="adj" fmla="val 17857"/>
            </a:avLst>
          </a:prstGeom>
          <a:solidFill>
            <a:srgbClr val="1B5A4C"/>
          </a:solidFill>
          <a:ln w="12700">
            <a:solidFill>
              <a:srgbClr val="1B5A4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01168"/>
            <a:ext cx="12847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TABLA MAESTRA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860804" y="201168"/>
            <a:ext cx="68534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Caso × dato → escalera → métrica · para imprimir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7960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 / 43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Tabla maestra: de tu caso a tu escalera</a:t>
            </a:r>
            <a:endParaRPr lang="en-US" sz="24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234440"/>
                <a:gridCol w="1463040"/>
                <a:gridCol w="1371600"/>
                <a:gridCol w="132588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69767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Caso de uso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69767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Dato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69767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Línea base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69767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Modelo v1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69767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v2 (si gana)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69767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Métrica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Demanda, ventas, ejecución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serie con fecha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persistencia estacional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Holt-Winters / SARIMA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boosting con rezagos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MAPE, MASE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Inasistencia, mora, deserción, falla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tabla, clase rara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mayoritaria + logística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bosque aleatorio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/ LightGBM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PR-AUC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Precio, costo, litros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tabla numérica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promedio; lineal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bosque de regresión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boosting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Intención, tipo, tema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texto corto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reglas por palabras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TF-IDF + logística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embeddings; BERT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macro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Extraer campos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texto con formato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regex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NER (spaCy)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estructurado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por campo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Responder con fuentes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corpus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búsqueda por palabras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con embeddings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+ reordenamiento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citas verificables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Anomalías en telemetría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eventos por tiempo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umbral actual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Isolation Forest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autoencoder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 + falsas alarmas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Recomendar, emparejar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usuario × ítem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 más popular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vecinos por ítem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factorización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precisión en los 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tabla sin etiqueta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segmentación manual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DBSCAN / GMM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silueta + negocio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Priorizar (pruebas, cobranza)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tabla + historial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orden actual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logística → ordenar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boosting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ganancia en el decil superior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143000" cy="256032"/>
          </a:xfrm>
          <a:prstGeom prst="roundRect">
            <a:avLst>
              <a:gd name="adj" fmla="val 17857"/>
            </a:avLst>
          </a:prstGeom>
          <a:solidFill>
            <a:srgbClr val="96501F"/>
          </a:solidFill>
          <a:ln w="12700">
            <a:solidFill>
              <a:srgbClr val="96501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0116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ARQUETIPO A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719072" y="201168"/>
            <a:ext cx="6995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Pronóstico y estimación · 15 tesis · cápsula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7960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 / 43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Cápsula A · Pronóstico: la escalera que casi todos van a subir</a:t>
            </a:r>
            <a:endParaRPr lang="en-US" sz="2400" dirty="0"/>
          </a:p>
        </p:txBody>
      </p:sp>
      <p:pic>
        <p:nvPicPr>
          <p:cNvPr id="7" name="Image 0" descr="/tmp/claude-0/-home-claude/94d87a7e-2026-57da-a708-b5745215c64e/scratchpad/build/figs3/c26_pronostic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143000"/>
            <a:ext cx="4480560" cy="3063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166360" y="1143000"/>
            <a:ext cx="3520440" cy="384048"/>
          </a:xfrm>
          <a:prstGeom prst="roundRect">
            <a:avLst>
              <a:gd name="adj" fmla="val 1904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276088" y="124358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65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LÍNEA BASE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6217920" y="11430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 estacional (hace 7 días)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166360" y="1581912"/>
            <a:ext cx="3520440" cy="384048"/>
          </a:xfrm>
          <a:prstGeom prst="roundRect">
            <a:avLst>
              <a:gd name="adj" fmla="val 19048"/>
            </a:avLst>
          </a:prstGeom>
          <a:solidFill>
            <a:srgbClr val="F2E6DC"/>
          </a:solidFill>
          <a:ln w="12700">
            <a:solidFill>
              <a:srgbClr val="F2E6D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276088" y="168249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65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 v1</a:t>
            </a:r>
            <a:endParaRPr lang="en-US" sz="800" dirty="0"/>
          </a:p>
        </p:txBody>
      </p:sp>
      <p:sp>
        <p:nvSpPr>
          <p:cNvPr id="13" name="Text 10"/>
          <p:cNvSpPr txBox="1"/>
          <p:nvPr/>
        </p:nvSpPr>
        <p:spPr>
          <a:xfrm>
            <a:off x="6217920" y="158191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Holt-Winters o SARIMA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166360" y="2020824"/>
            <a:ext cx="3520440" cy="384048"/>
          </a:xfrm>
          <a:prstGeom prst="roundRect">
            <a:avLst>
              <a:gd name="adj" fmla="val 19048"/>
            </a:avLst>
          </a:prstGeom>
          <a:solidFill>
            <a:srgbClr val="F2E6DC"/>
          </a:solidFill>
          <a:ln w="12700">
            <a:solidFill>
              <a:srgbClr val="F2E6D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276088" y="212140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65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 v2</a:t>
            </a:r>
            <a:endParaRPr lang="en-US" sz="800" dirty="0"/>
          </a:p>
        </p:txBody>
      </p:sp>
      <p:sp>
        <p:nvSpPr>
          <p:cNvPr id="16" name="Text 13"/>
          <p:cNvSpPr txBox="1"/>
          <p:nvPr/>
        </p:nvSpPr>
        <p:spPr>
          <a:xfrm>
            <a:off x="6217920" y="202082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 con rezagos (muchas series)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166360" y="2478024"/>
            <a:ext cx="3520440" cy="749808"/>
          </a:xfrm>
          <a:prstGeom prst="roundRect">
            <a:avLst>
              <a:gd name="adj" fmla="val 9756"/>
            </a:avLst>
          </a:prstGeom>
          <a:solidFill>
            <a:srgbClr val="F6E1DE"/>
          </a:solidFill>
          <a:ln w="12700">
            <a:solidFill>
              <a:srgbClr val="F6E1D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276088" y="2542032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A83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TRAMPA TÍPICA</a:t>
            </a:r>
            <a:endParaRPr lang="en-US" sz="800" dirty="0"/>
          </a:p>
        </p:txBody>
      </p:sp>
      <p:sp>
        <p:nvSpPr>
          <p:cNvPr id="19" name="Text 16"/>
          <p:cNvSpPr txBox="1"/>
          <p:nvPr/>
        </p:nvSpPr>
        <p:spPr>
          <a:xfrm>
            <a:off x="5276088" y="2724912"/>
            <a:ext cx="3300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Bosque o boosting con tendencia fuerte: no extrapolan. Usar rezagos o pronosticar el cambio, no el nivel.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166360" y="3300984"/>
            <a:ext cx="3520440" cy="923544"/>
          </a:xfrm>
          <a:prstGeom prst="roundRect">
            <a:avLst>
              <a:gd name="adj" fmla="val 7921"/>
            </a:avLst>
          </a:prstGeom>
          <a:solidFill>
            <a:srgbClr val="FFFFFF"/>
          </a:solidFill>
          <a:ln w="12700">
            <a:solidFill>
              <a:srgbClr val="96501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276088" y="3364992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65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ESTUDIANTES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5276088" y="3557016"/>
            <a:ext cx="501091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96501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276088" y="3557016"/>
            <a:ext cx="50109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65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Zuñiga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5832043" y="3557016"/>
            <a:ext cx="395021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96501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832043" y="3557016"/>
            <a:ext cx="39502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65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Lema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281928" y="3557016"/>
            <a:ext cx="501091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96501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281928" y="3557016"/>
            <a:ext cx="50109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65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Manjón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6837883" y="3557016"/>
            <a:ext cx="660197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96501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837883" y="3557016"/>
            <a:ext cx="66019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65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Kaffehaus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7552944" y="3557016"/>
            <a:ext cx="448056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96501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552944" y="3557016"/>
            <a:ext cx="448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65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Durán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5276088" y="3831336"/>
            <a:ext cx="554126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96501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276088" y="3831336"/>
            <a:ext cx="5541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65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Aguilar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5885078" y="3831336"/>
            <a:ext cx="607162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96501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885078" y="3831336"/>
            <a:ext cx="6071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65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Guerrero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547104" y="3831336"/>
            <a:ext cx="554126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96501F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547104" y="3831336"/>
            <a:ext cx="5541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65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POA (3)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7156094" y="3831336"/>
            <a:ext cx="501091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96501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156094" y="3831336"/>
            <a:ext cx="50109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65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Flores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5276088" y="4105656"/>
            <a:ext cx="925373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96501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5276088" y="4105656"/>
            <a:ext cx="92537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65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Mamani–Paredes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6256325" y="4105656"/>
            <a:ext cx="448056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96501F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256325" y="4105656"/>
            <a:ext cx="448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65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Tomás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457200" y="4315968"/>
            <a:ext cx="8229600" cy="365760"/>
          </a:xfrm>
          <a:prstGeom prst="roundRect">
            <a:avLst>
              <a:gd name="adj" fmla="val 20000"/>
            </a:avLst>
          </a:prstGeom>
          <a:solidFill>
            <a:srgbClr val="DBE9E5"/>
          </a:solidFill>
          <a:ln w="12700">
            <a:solidFill>
              <a:srgbClr val="DBE9E5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594360" y="4315968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24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E3  tabla línea base vs. v1 (vs. v2) con MAPE por ventana y desviación · figura real vs. predicho · un párrafo: por qué ese escalón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143000" cy="256032"/>
          </a:xfrm>
          <a:prstGeom prst="roundRect">
            <a:avLst>
              <a:gd name="adj" fmla="val 17857"/>
            </a:avLst>
          </a:prstGeom>
          <a:solidFill>
            <a:srgbClr val="3E6F8A"/>
          </a:solidFill>
          <a:ln w="12700">
            <a:solidFill>
              <a:srgbClr val="3E6F8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0116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ARQUETIPO B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719072" y="201168"/>
            <a:ext cx="6995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Lenguaje: PLN y modelos generativos · 9 tesis · cápsula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7960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 / 43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Cápsula B · Lenguaje: primero la tabla de palabras</a:t>
            </a:r>
            <a:endParaRPr lang="en-US" sz="2400" dirty="0"/>
          </a:p>
        </p:txBody>
      </p:sp>
      <p:pic>
        <p:nvPicPr>
          <p:cNvPr id="7" name="Image 0" descr="/tmp/claude-0/-home-claude/94d87a7e-2026-57da-a708-b5745215c64e/scratchpad/build/figs3/c27_text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143000"/>
            <a:ext cx="4480560" cy="3063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166360" y="1143000"/>
            <a:ext cx="3520440" cy="384048"/>
          </a:xfrm>
          <a:prstGeom prst="roundRect">
            <a:avLst>
              <a:gd name="adj" fmla="val 1904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276088" y="124358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3E6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LÍNEA BASE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6217920" y="11430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por palabras clave / regex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166360" y="1581912"/>
            <a:ext cx="3520440" cy="384048"/>
          </a:xfrm>
          <a:prstGeom prst="roundRect">
            <a:avLst>
              <a:gd name="adj" fmla="val 19048"/>
            </a:avLst>
          </a:prstGeom>
          <a:solidFill>
            <a:srgbClr val="DDE9EF"/>
          </a:solidFill>
          <a:ln w="12700">
            <a:solidFill>
              <a:srgbClr val="DDE9E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276088" y="168249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3E6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 v1</a:t>
            </a:r>
            <a:endParaRPr lang="en-US" sz="800" dirty="0"/>
          </a:p>
        </p:txBody>
      </p:sp>
      <p:sp>
        <p:nvSpPr>
          <p:cNvPr id="13" name="Text 10"/>
          <p:cNvSpPr txBox="1"/>
          <p:nvPr/>
        </p:nvSpPr>
        <p:spPr>
          <a:xfrm>
            <a:off x="6217920" y="158191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logística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166360" y="2020824"/>
            <a:ext cx="3520440" cy="384048"/>
          </a:xfrm>
          <a:prstGeom prst="roundRect">
            <a:avLst>
              <a:gd name="adj" fmla="val 19048"/>
            </a:avLst>
          </a:prstGeom>
          <a:solidFill>
            <a:srgbClr val="DDE9EF"/>
          </a:solidFill>
          <a:ln w="12700">
            <a:solidFill>
              <a:srgbClr val="DDE9E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276088" y="212140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3E6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 v2</a:t>
            </a:r>
            <a:endParaRPr lang="en-US" sz="800" dirty="0"/>
          </a:p>
        </p:txBody>
      </p:sp>
      <p:sp>
        <p:nvSpPr>
          <p:cNvPr id="16" name="Text 13"/>
          <p:cNvSpPr txBox="1"/>
          <p:nvPr/>
        </p:nvSpPr>
        <p:spPr>
          <a:xfrm>
            <a:off x="6217920" y="202082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o BERT ajustado; RAG si genera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166360" y="2478024"/>
            <a:ext cx="3520440" cy="749808"/>
          </a:xfrm>
          <a:prstGeom prst="roundRect">
            <a:avLst>
              <a:gd name="adj" fmla="val 9756"/>
            </a:avLst>
          </a:prstGeom>
          <a:solidFill>
            <a:srgbClr val="F6E1DE"/>
          </a:solidFill>
          <a:ln w="12700">
            <a:solidFill>
              <a:srgbClr val="F6E1D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276088" y="2542032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A83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TRAMPA TÍPICA</a:t>
            </a:r>
            <a:endParaRPr lang="en-US" sz="800" dirty="0"/>
          </a:p>
        </p:txBody>
      </p:sp>
      <p:sp>
        <p:nvSpPr>
          <p:cNvPr id="19" name="Text 16"/>
          <p:cNvSpPr txBox="1"/>
          <p:nvPr/>
        </p:nvSpPr>
        <p:spPr>
          <a:xfrm>
            <a:off x="5276088" y="2724912"/>
            <a:ext cx="3300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con las mismas frases usadas para escribir las reglas o el prompt. Anotar la verdad de referencia después de ver la salida del modelo.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166360" y="3300984"/>
            <a:ext cx="3520440" cy="923544"/>
          </a:xfrm>
          <a:prstGeom prst="roundRect">
            <a:avLst>
              <a:gd name="adj" fmla="val 7921"/>
            </a:avLst>
          </a:prstGeom>
          <a:solidFill>
            <a:srgbClr val="FFFFFF"/>
          </a:solidFill>
          <a:ln w="12700">
            <a:solidFill>
              <a:srgbClr val="3E6F8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276088" y="3364992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3E6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ESTUDIANTES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5276088" y="3557016"/>
            <a:ext cx="554126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3E6F8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276088" y="3557016"/>
            <a:ext cx="5541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E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Alarcón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5885078" y="3557016"/>
            <a:ext cx="713232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3E6F8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885078" y="3557016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E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Santa Cruz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653174" y="3557016"/>
            <a:ext cx="554126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3E6F8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653174" y="3557016"/>
            <a:ext cx="5541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E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Condori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7262165" y="3557016"/>
            <a:ext cx="448056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3E6F8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262165" y="3557016"/>
            <a:ext cx="448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E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Lahor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7765085" y="3557016"/>
            <a:ext cx="395021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3E6F8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765085" y="3557016"/>
            <a:ext cx="39502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E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Vega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5276088" y="3831336"/>
            <a:ext cx="395021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3E6F8A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276088" y="3831336"/>
            <a:ext cx="39502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E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Yana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5725973" y="3831336"/>
            <a:ext cx="660197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3E6F8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725973" y="3831336"/>
            <a:ext cx="66019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E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Alcalá M.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441034" y="3831336"/>
            <a:ext cx="713232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3E6F8A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441034" y="3831336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E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Labrandero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7209130" y="3831336"/>
            <a:ext cx="713232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3E6F8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209130" y="3831336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E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Baldiviezo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457200" y="4315968"/>
            <a:ext cx="8229600" cy="365760"/>
          </a:xfrm>
          <a:prstGeom prst="roundRect">
            <a:avLst>
              <a:gd name="adj" fmla="val 20000"/>
            </a:avLst>
          </a:prstGeom>
          <a:solidFill>
            <a:srgbClr val="DBE9E5"/>
          </a:solidFill>
          <a:ln w="12700">
            <a:solidFill>
              <a:srgbClr val="DBE9E5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594360" y="4315968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24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E3  conjunto anotado (≥ 100 casos, antes de modelar) · F1 por escalón · tres errores comentados · RAG: tabla de citas existentes sí/no</a:t>
            </a:r>
            <a:endParaRPr lang="en-US" sz="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143000" cy="256032"/>
          </a:xfrm>
          <a:prstGeom prst="roundRect">
            <a:avLst>
              <a:gd name="adj" fmla="val 17857"/>
            </a:avLst>
          </a:prstGeom>
          <a:solidFill>
            <a:srgbClr val="1B5A4C"/>
          </a:solidFill>
          <a:ln w="12700">
            <a:solidFill>
              <a:srgbClr val="1B5A4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0116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ARQUETIPO C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719072" y="201168"/>
            <a:ext cx="6995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Clasificación y recomendación · 6 tesis · cápsula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7960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 / 43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Cápsula C · Clase rara: la curva precisión-recall manda</a:t>
            </a:r>
            <a:endParaRPr lang="en-US" sz="2400" dirty="0"/>
          </a:p>
        </p:txBody>
      </p:sp>
      <p:pic>
        <p:nvPicPr>
          <p:cNvPr id="7" name="Image 0" descr="/tmp/claude-0/-home-claude/94d87a7e-2026-57da-a708-b5745215c64e/scratchpad/build/figs3/c28_p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143000"/>
            <a:ext cx="4480560" cy="3063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166360" y="1143000"/>
            <a:ext cx="3520440" cy="384048"/>
          </a:xfrm>
          <a:prstGeom prst="roundRect">
            <a:avLst>
              <a:gd name="adj" fmla="val 1904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276088" y="124358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1B5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LÍNEA BASE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6217920" y="11430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mayoritaria + logística (balanced)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166360" y="1581912"/>
            <a:ext cx="3520440" cy="384048"/>
          </a:xfrm>
          <a:prstGeom prst="roundRect">
            <a:avLst>
              <a:gd name="adj" fmla="val 19048"/>
            </a:avLst>
          </a:prstGeom>
          <a:solidFill>
            <a:srgbClr val="DBE9E5"/>
          </a:solidFill>
          <a:ln w="12700">
            <a:solidFill>
              <a:srgbClr val="DBE9E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276088" y="168249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1B5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 v1</a:t>
            </a:r>
            <a:endParaRPr lang="en-US" sz="800" dirty="0"/>
          </a:p>
        </p:txBody>
      </p:sp>
      <p:sp>
        <p:nvSpPr>
          <p:cNvPr id="13" name="Text 10"/>
          <p:cNvSpPr txBox="1"/>
          <p:nvPr/>
        </p:nvSpPr>
        <p:spPr>
          <a:xfrm>
            <a:off x="6217920" y="158191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Bosque aleatorio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166360" y="2020824"/>
            <a:ext cx="3520440" cy="384048"/>
          </a:xfrm>
          <a:prstGeom prst="roundRect">
            <a:avLst>
              <a:gd name="adj" fmla="val 19048"/>
            </a:avLst>
          </a:prstGeom>
          <a:solidFill>
            <a:srgbClr val="DBE9E5"/>
          </a:solidFill>
          <a:ln w="12700">
            <a:solidFill>
              <a:srgbClr val="DBE9E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276088" y="212140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1B5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 v2</a:t>
            </a:r>
            <a:endParaRPr lang="en-US" sz="800" dirty="0"/>
          </a:p>
        </p:txBody>
      </p:sp>
      <p:sp>
        <p:nvSpPr>
          <p:cNvPr id="16" name="Text 13"/>
          <p:cNvSpPr txBox="1"/>
          <p:nvPr/>
        </p:nvSpPr>
        <p:spPr>
          <a:xfrm>
            <a:off x="6217920" y="202082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/ LightGBM, solo si queda margen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166360" y="2478024"/>
            <a:ext cx="3520440" cy="749808"/>
          </a:xfrm>
          <a:prstGeom prst="roundRect">
            <a:avLst>
              <a:gd name="adj" fmla="val 9756"/>
            </a:avLst>
          </a:prstGeom>
          <a:solidFill>
            <a:srgbClr val="F6E1DE"/>
          </a:solidFill>
          <a:ln w="12700">
            <a:solidFill>
              <a:srgbClr val="F6E1D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276088" y="2542032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A83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TRAMPA TÍPICA</a:t>
            </a:r>
            <a:endParaRPr lang="en-US" sz="800" dirty="0"/>
          </a:p>
        </p:txBody>
      </p:sp>
      <p:sp>
        <p:nvSpPr>
          <p:cNvPr id="19" name="Text 16"/>
          <p:cNvSpPr txBox="1"/>
          <p:nvPr/>
        </p:nvSpPr>
        <p:spPr>
          <a:xfrm>
            <a:off x="5276088" y="2724912"/>
            <a:ext cx="3300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Exactitud del 90 % con recall 0. Umbral en 0,5 por costumbre. Rebalancear antes de partir. Variables que se conocen después de la decisión.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166360" y="3300984"/>
            <a:ext cx="3520440" cy="923544"/>
          </a:xfrm>
          <a:prstGeom prst="roundRect">
            <a:avLst>
              <a:gd name="adj" fmla="val 7921"/>
            </a:avLst>
          </a:prstGeom>
          <a:solidFill>
            <a:srgbClr val="FFFFFF"/>
          </a:solidFill>
          <a:ln w="12700">
            <a:solidFill>
              <a:srgbClr val="1B5A4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276088" y="3364992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1B5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ESTUDIANTES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5276088" y="3557016"/>
            <a:ext cx="607162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1B5A4C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276088" y="3557016"/>
            <a:ext cx="6071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5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Gonzales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5938114" y="3557016"/>
            <a:ext cx="448056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1B5A4C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938114" y="3557016"/>
            <a:ext cx="448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5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Mollo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441034" y="3557016"/>
            <a:ext cx="660197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1B5A4C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441034" y="3557016"/>
            <a:ext cx="66019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5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Alcalá R.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7156094" y="3557016"/>
            <a:ext cx="501091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1B5A4C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156094" y="3557016"/>
            <a:ext cx="50109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5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Choque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7712050" y="3557016"/>
            <a:ext cx="554126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1B5A4C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712050" y="3557016"/>
            <a:ext cx="5541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5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Ramírez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5276088" y="3831336"/>
            <a:ext cx="448056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1B5A4C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276088" y="3831336"/>
            <a:ext cx="448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5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Rojas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457200" y="4315968"/>
            <a:ext cx="8229600" cy="365760"/>
          </a:xfrm>
          <a:prstGeom prst="roundRect">
            <a:avLst>
              <a:gd name="adj" fmla="val 20000"/>
            </a:avLst>
          </a:prstGeom>
          <a:solidFill>
            <a:srgbClr val="DBE9E5"/>
          </a:solidFill>
          <a:ln w="12700">
            <a:solidFill>
              <a:srgbClr val="DBE9E5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94360" y="4315968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24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E3  tabla dummy vs. logística vs. bosque con PR-AUC y recall a precisión fija · curva precisión-recall · umbral elegido con la matriz de costo</a:t>
            </a:r>
            <a:endParaRPr lang="en-US" sz="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143000" cy="256032"/>
          </a:xfrm>
          <a:prstGeom prst="roundRect">
            <a:avLst>
              <a:gd name="adj" fmla="val 17857"/>
            </a:avLst>
          </a:prstGeom>
          <a:solidFill>
            <a:srgbClr val="7A3A5E"/>
          </a:solidFill>
          <a:ln w="12700">
            <a:solidFill>
              <a:srgbClr val="7A3A5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0116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ARQUETIPO D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719072" y="201168"/>
            <a:ext cx="6995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Anomalías y monitoreo predictivo · 7 tesis · cápsula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7960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 / 43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Cápsula D · Anomalías: cuántos encuentra, cuánto ruido</a:t>
            </a:r>
            <a:endParaRPr lang="en-US" sz="2400" dirty="0"/>
          </a:p>
        </p:txBody>
      </p:sp>
      <p:pic>
        <p:nvPicPr>
          <p:cNvPr id="7" name="Image 0" descr="/tmp/claude-0/-home-claude/94d87a7e-2026-57da-a708-b5745215c64e/scratchpad/build/figs3/c29_anomalia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143000"/>
            <a:ext cx="4480560" cy="3063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166360" y="1143000"/>
            <a:ext cx="3520440" cy="384048"/>
          </a:xfrm>
          <a:prstGeom prst="roundRect">
            <a:avLst>
              <a:gd name="adj" fmla="val 1904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276088" y="124358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7A3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LÍNEA BASE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6217920" y="11430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 actual o "lo normal a esta hora"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166360" y="1581912"/>
            <a:ext cx="3520440" cy="384048"/>
          </a:xfrm>
          <a:prstGeom prst="roundRect">
            <a:avLst>
              <a:gd name="adj" fmla="val 19048"/>
            </a:avLst>
          </a:prstGeom>
          <a:solidFill>
            <a:srgbClr val="EFE0E8"/>
          </a:solidFill>
          <a:ln w="12700">
            <a:solidFill>
              <a:srgbClr val="EFE0E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276088" y="168249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7A3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 v1</a:t>
            </a:r>
            <a:endParaRPr lang="en-US" sz="800" dirty="0"/>
          </a:p>
        </p:txBody>
      </p:sp>
      <p:sp>
        <p:nvSpPr>
          <p:cNvPr id="13" name="Text 10"/>
          <p:cNvSpPr txBox="1"/>
          <p:nvPr/>
        </p:nvSpPr>
        <p:spPr>
          <a:xfrm>
            <a:off x="6217920" y="158191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sobre ventanas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166360" y="2020824"/>
            <a:ext cx="3520440" cy="384048"/>
          </a:xfrm>
          <a:prstGeom prst="roundRect">
            <a:avLst>
              <a:gd name="adj" fmla="val 19048"/>
            </a:avLst>
          </a:prstGeom>
          <a:solidFill>
            <a:srgbClr val="EFE0E8"/>
          </a:solidFill>
          <a:ln w="12700">
            <a:solidFill>
              <a:srgbClr val="EFE0E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276088" y="212140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7A3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 v2</a:t>
            </a:r>
            <a:endParaRPr lang="en-US" sz="800" dirty="0"/>
          </a:p>
        </p:txBody>
      </p:sp>
      <p:sp>
        <p:nvSpPr>
          <p:cNvPr id="16" name="Text 13"/>
          <p:cNvSpPr txBox="1"/>
          <p:nvPr/>
        </p:nvSpPr>
        <p:spPr>
          <a:xfrm>
            <a:off x="6217920" y="202082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Clasificador (si hay etiquetas) o autoencoder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166360" y="2478024"/>
            <a:ext cx="3520440" cy="749808"/>
          </a:xfrm>
          <a:prstGeom prst="roundRect">
            <a:avLst>
              <a:gd name="adj" fmla="val 9756"/>
            </a:avLst>
          </a:prstGeom>
          <a:solidFill>
            <a:srgbClr val="F6E1DE"/>
          </a:solidFill>
          <a:ln w="12700">
            <a:solidFill>
              <a:srgbClr val="F6E1D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276088" y="2542032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A83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TRAMPA TÍPICA</a:t>
            </a:r>
            <a:endParaRPr lang="en-US" sz="800" dirty="0"/>
          </a:p>
        </p:txBody>
      </p:sp>
      <p:sp>
        <p:nvSpPr>
          <p:cNvPr id="19" name="Text 16"/>
          <p:cNvSpPr txBox="1"/>
          <p:nvPr/>
        </p:nvSpPr>
        <p:spPr>
          <a:xfrm>
            <a:off x="5276088" y="2724912"/>
            <a:ext cx="3300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como variable el ticket, la alerta o el resultado del laboratorio que ya ocurrió. Medir horas en vez de incidentes. Exactitud global del 99 %.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166360" y="3300984"/>
            <a:ext cx="3520440" cy="923544"/>
          </a:xfrm>
          <a:prstGeom prst="roundRect">
            <a:avLst>
              <a:gd name="adj" fmla="val 7921"/>
            </a:avLst>
          </a:prstGeom>
          <a:solidFill>
            <a:srgbClr val="FFFFFF"/>
          </a:solidFill>
          <a:ln w="12700">
            <a:solidFill>
              <a:srgbClr val="7A3A5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276088" y="3364992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7A3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ESTUDIANTES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5276088" y="3557016"/>
            <a:ext cx="660197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7A3A5E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276088" y="3557016"/>
            <a:ext cx="66019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Cervantes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5991149" y="3557016"/>
            <a:ext cx="607162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7A3A5E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991149" y="3557016"/>
            <a:ext cx="6071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Coaguila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653174" y="3557016"/>
            <a:ext cx="554126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7A3A5E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653174" y="3557016"/>
            <a:ext cx="5541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Cornejo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7262165" y="3557016"/>
            <a:ext cx="554126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7A3A5E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262165" y="3557016"/>
            <a:ext cx="5541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Serrudo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7871155" y="3557016"/>
            <a:ext cx="448056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7A3A5E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871155" y="3557016"/>
            <a:ext cx="448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Tomás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5276088" y="3831336"/>
            <a:ext cx="501091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7A3A5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276088" y="3831336"/>
            <a:ext cx="50109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Vargas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5832043" y="3831336"/>
            <a:ext cx="554126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7A3A5E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832043" y="3831336"/>
            <a:ext cx="5541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Vásquez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457200" y="4315968"/>
            <a:ext cx="8229600" cy="365760"/>
          </a:xfrm>
          <a:prstGeom prst="roundRect">
            <a:avLst>
              <a:gd name="adj" fmla="val 20000"/>
            </a:avLst>
          </a:prstGeom>
          <a:solidFill>
            <a:srgbClr val="DBE9E5"/>
          </a:solidFill>
          <a:ln w="12700">
            <a:solidFill>
              <a:srgbClr val="DBE9E5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594360" y="4315968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24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E3  tabla umbral vs. Isolation Forest (vs. v2) con recall, falsas alarmas por semana y anticipación · línea de tiempo con incidentes y alertas</a:t>
            </a:r>
            <a:endParaRPr lang="en-US" sz="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143000" cy="256032"/>
          </a:xfrm>
          <a:prstGeom prst="roundRect">
            <a:avLst>
              <a:gd name="adj" fmla="val 17857"/>
            </a:avLst>
          </a:prstGeom>
          <a:solidFill>
            <a:srgbClr val="39508F"/>
          </a:solidFill>
          <a:ln w="12700">
            <a:solidFill>
              <a:srgbClr val="3950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0116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MÉTRICA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719072" y="201168"/>
            <a:ext cx="6995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métrica sale de la pregunta, no del modelo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7960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 / 43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métrica reportar según la tarea, y cuál engaña</a:t>
            </a:r>
            <a:endParaRPr lang="en-US" sz="24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291840"/>
                <a:gridCol w="2926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69767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Tarea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69767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Reporta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69767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 que engaña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Regresión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en unidades del negocio (+ RMSE)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alto con un MAE inservible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Pronóstico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 o MASE por ventana; error por horizonte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 con valores reales cercanos a cero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Clasificación con clase rara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PR-AUC; recall a precisión fija; curva PR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exactitud; ROC-AUC (se infla con la clase mayoritaria)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Anomalías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 de incidentes + falsas alarmas/semana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exactitud global (99 % trivial)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Recomendación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precisión y recall en los k primeros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de puntuaciones sin mirar el ranking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Texto: clasificar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macro; acuerdo entre anotadores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exactitud cuando una clase domina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Texto: extraer / generar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por campo; % de citas verificables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BLEU / ROUGE como única métrica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Agrupamiento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silueta + lectura del negocio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inercia sola (siempre baja al subir K)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143000" cy="256032"/>
          </a:xfrm>
          <a:prstGeom prst="roundRect">
            <a:avLst>
              <a:gd name="adj" fmla="val 17857"/>
            </a:avLst>
          </a:prstGeom>
          <a:solidFill>
            <a:srgbClr val="1B5A4C"/>
          </a:solidFill>
          <a:ln w="12700">
            <a:solidFill>
              <a:srgbClr val="1B5A4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0116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TESIS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719072" y="201168"/>
            <a:ext cx="6995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Cómo se escribe la elección en el capítulo 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7960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 / 43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justificación es una tabla, no una opinión</a:t>
            </a:r>
            <a:endParaRPr lang="en-US" sz="24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737360"/>
                <a:gridCol w="1371600"/>
                <a:gridCol w="1645920"/>
                <a:gridCol w="822960"/>
                <a:gridCol w="16459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69767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Iteración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69767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Modelo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69767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Complejidad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69767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MAPE semanal (prueba)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69767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Latencia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69767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Decisión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Línea base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Persistencia estacional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ninguna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22,0 % ± 10,4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 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rival a vencer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 v1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Holt-Winters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baja, interpretable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15,3 % ± 5,9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5 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gana con claridad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 v2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Boosting con rezagos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alta, caja negra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15,0 % ± 5,0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supera a v1: se descarta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Descartado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muy alta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evaluado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3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sola serie de 3 años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154680"/>
            <a:ext cx="8229600" cy="1417320"/>
          </a:xfrm>
          <a:prstGeom prst="roundRect">
            <a:avLst>
              <a:gd name="adj" fmla="val 5161"/>
            </a:avLst>
          </a:prstGeom>
          <a:solidFill>
            <a:srgbClr val="DBE9E5"/>
          </a:solidFill>
          <a:ln w="12700">
            <a:solidFill>
              <a:srgbClr val="DBE9E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3246120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1B5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PÁRRAFO MODELO PARA EL CAPÍTULO 3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3456432"/>
            <a:ext cx="78638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124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 evaluaron tres niveles de complejidad sobre la misma partición temporal. La persistencia estacional obtuvo un MAPE semanal de 22,0 %; Holt-Winters lo redujo a 15,3 % y la potenciación de gradiente con rezagos a 15,0 %, diferencia menor que la variación entre semanas. Se seleccionó Holt-Winters por igual desempeño con menor complejidad y mayor interpretabilidad. Se descartó una red recurrente por tratarse de una única serie de tres años, volumen para el que la literatura no reporta ventajas."</a:t>
            </a:r>
            <a:endParaRPr lang="en-US" sz="10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143000" cy="256032"/>
          </a:xfrm>
          <a:prstGeom prst="roundRect">
            <a:avLst>
              <a:gd name="adj" fmla="val 17857"/>
            </a:avLst>
          </a:prstGeom>
          <a:solidFill>
            <a:srgbClr val="7A3A5E"/>
          </a:solidFill>
          <a:ln w="12700">
            <a:solidFill>
              <a:srgbClr val="7A3A5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0116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TALLER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719072" y="201168"/>
            <a:ext cx="6995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Ficha "Mi escalera" · salas por arquetipo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7960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 / 43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Taller · Ficha "Mi escalera": nueve casilleros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26517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2D9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5216" y="130759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7A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Dato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85216" y="160020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3B4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forma, filas, periodo, ¿etiqueta?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46120" y="1234440"/>
            <a:ext cx="26517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2D9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74136" y="130759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7A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Pregunta y tarea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3374136" y="160020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3B4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"¿cuánto vende el sábado?" → pronóstico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35040" y="1234440"/>
            <a:ext cx="26517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2D9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63056" y="130759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7A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Restricción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163056" y="160020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3B4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/ latencia / costo / pocos datos / clase rara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130552"/>
            <a:ext cx="26517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2D9E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85216" y="220370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7A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Línea base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585216" y="249631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3B4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+ número ya medido (E2)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46120" y="2130552"/>
            <a:ext cx="26517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2D9E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374136" y="220370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7A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Modelo v1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3374136" y="249631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3B4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escalón 2 de tu escalera + por qué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035040" y="2130552"/>
            <a:ext cx="26517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2D9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163056" y="220370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7A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Modelo v2 (si gana v1)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163056" y="249631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3B4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si queda margen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3026664"/>
            <a:ext cx="26517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2D9E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85216" y="309981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7A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Métrica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585216" y="3392424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3B4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la que NO reportas sola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46120" y="3026664"/>
            <a:ext cx="26517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2D9E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374136" y="309981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7A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Partición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3374136" y="3392424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3B4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/ grupo / ambos; cortes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035040" y="3026664"/>
            <a:ext cx="26517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2D9E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163056" y="309981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7A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· "¿Por qué no deep learning?"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6163056" y="3392424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3B4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líneas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" y="397764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EFE0E8"/>
          </a:solidFill>
          <a:ln w="12700">
            <a:solidFill>
              <a:srgbClr val="EFE0E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0080" y="3977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 ficha → salas por arquetipo con la plantilla del cuaderno (Clase 2, sección 9): cambiar el modelo por tu v1 → plenaria: fichas leídas y corregidas</a:t>
            </a:r>
            <a:endParaRPr lang="en-US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284732" cy="256032"/>
          </a:xfrm>
          <a:prstGeom prst="roundRect">
            <a:avLst>
              <a:gd name="adj" fmla="val 17857"/>
            </a:avLst>
          </a:prstGeom>
          <a:solidFill>
            <a:srgbClr val="1B5A4C"/>
          </a:solidFill>
          <a:ln w="12700">
            <a:solidFill>
              <a:srgbClr val="1B5A4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01168"/>
            <a:ext cx="12847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ENTREGABLE E3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860804" y="201168"/>
            <a:ext cx="68534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 v1 contra la línea base · dos caminos válidos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7960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 / 43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E3 · Un resultado negativo riguroso también aprueba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4023360" cy="2148840"/>
          </a:xfrm>
          <a:prstGeom prst="roundRect">
            <a:avLst>
              <a:gd name="adj" fmla="val 3404"/>
            </a:avLst>
          </a:prstGeom>
          <a:solidFill>
            <a:srgbClr val="DBE9E5"/>
          </a:solidFill>
          <a:ln w="12700">
            <a:solidFill>
              <a:srgbClr val="DBE9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32588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1B5A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CAMINO A · SUPERACIÓN VALIDADA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600200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gana a la línea base en la métrica primaria, sobre la prueba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ganancia supera la variación entre ventanas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fugas; la restricción se cumple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1234440"/>
            <a:ext cx="4023360" cy="2148840"/>
          </a:xfrm>
          <a:prstGeom prst="roundRect">
            <a:avLst>
              <a:gd name="adj" fmla="val 3404"/>
            </a:avLst>
          </a:prstGeom>
          <a:solidFill>
            <a:srgbClr val="F3E9D2"/>
          </a:solidFill>
          <a:ln w="12700">
            <a:solidFill>
              <a:srgbClr val="F3E9D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132588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C62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CAMINO B · INFORME NEGATIVO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1600200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no gana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página: por qué (sin señal, pocos datos, etiqueta poco confiable), qué se probó, qué se descartó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haría falta: eso es trabajo futuro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56616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657600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976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QUÉ SE ENTREGA ANTES DE LA CLASE 4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88620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3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cuaderno reproducible (línea base y v1, misma partición) · tabla de iteraciones · una figura con barras de error · ficha "Mi escalera" · dos páginas del capítulo 4 (arquitectura)</a:t>
            </a:r>
            <a:endParaRPr lang="en-US" sz="11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31A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0C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CIERRE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modelo correcto es el más simple que gana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194560"/>
            <a:ext cx="7863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dato decide la familia; la pregunta, la tarea y la métrica; la restricción decide antes que la precisión.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familia es una escalera: se sube solo si el escalón gana al anterior. Hoy vimos una que no subió: también es un resultado.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elección se escribe como una tabla de iteraciones con una fila "descartado".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7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4: la ganancia se convierte en hipótesis y se prueba.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7960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794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 / 43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B4C1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modelar, diagnostica; antes de presumir, compara; antes de complicar, demuestra.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3 · Qué modelo usar según tu caso y tus datos</dc:title>
  <dc:subject>PptxGenJS Presentation</dc:subject>
  <dc:creator>MIS 718</dc:creator>
  <cp:lastModifiedBy>MIS 718</cp:lastModifiedBy>
  <cp:revision>1</cp:revision>
  <dcterms:created xsi:type="dcterms:W3CDTF">2026-09-19T19:13:43Z</dcterms:created>
  <dcterms:modified xsi:type="dcterms:W3CDTF">2026-09-19T19:13:43Z</dcterms:modified>
</cp:coreProperties>
</file>